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 id="268" r:id="rId14"/>
    <p:sldId id="269" r:id="rId15"/>
  </p:sldIdLst>
  <p:sldSz cx="18288000" cy="10287000"/>
  <p:notesSz cx="6858000" cy="9144000"/>
  <p:embeddedFontLst>
    <p:embeddedFont>
      <p:font typeface="Aptos Bold" panose="020B0604020202020204" charset="0"/>
      <p:regular r:id="rId17"/>
    </p:embeddedFont>
    <p:embeddedFont>
      <p:font typeface="Canva Sans Bold" panose="020B0604020202020204" charset="0"/>
      <p:regular r:id="rId18"/>
    </p:embeddedFont>
    <p:embeddedFont>
      <p:font typeface="Consolas" panose="020B0609020204030204" pitchFamily="49" charset="0"/>
      <p:regular r:id="rId19"/>
      <p:bold r:id="rId20"/>
      <p:italic r:id="rId21"/>
      <p:boldItalic r:id="rId22"/>
    </p:embeddedFont>
    <p:embeddedFont>
      <p:font typeface="Consolas Bold" panose="020B0709020204030204" pitchFamily="49"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7974" autoAdjust="0"/>
  </p:normalViewPr>
  <p:slideViewPr>
    <p:cSldViewPr>
      <p:cViewPr varScale="1">
        <p:scale>
          <a:sx n="48" d="100"/>
          <a:sy n="48" d="100"/>
        </p:scale>
        <p:origin x="109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09614D-1ED6-4CF1-940E-A8EAE0348E1B}" type="datetimeFigureOut">
              <a:rPr lang="en-IN" smtClean="0"/>
              <a:t>27-08-2026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1432C9-1B15-4DFA-819B-A6E21C363BD8}" type="slidenum">
              <a:rPr lang="en-IN" smtClean="0"/>
              <a:t>‹#›</a:t>
            </a:fld>
            <a:endParaRPr lang="en-IN"/>
          </a:p>
        </p:txBody>
      </p:sp>
    </p:spTree>
    <p:extLst>
      <p:ext uri="{BB962C8B-B14F-4D97-AF65-F5344CB8AC3E}">
        <p14:creationId xmlns:p14="http://schemas.microsoft.com/office/powerpoint/2010/main" val="3044824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1432C9-1B15-4DFA-819B-A6E21C363BD8}" type="slidenum">
              <a:rPr lang="en-IN" smtClean="0"/>
              <a:t>1</a:t>
            </a:fld>
            <a:endParaRPr lang="en-IN"/>
          </a:p>
        </p:txBody>
      </p:sp>
    </p:spTree>
    <p:extLst>
      <p:ext uri="{BB962C8B-B14F-4D97-AF65-F5344CB8AC3E}">
        <p14:creationId xmlns:p14="http://schemas.microsoft.com/office/powerpoint/2010/main" val="2138119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1432C9-1B15-4DFA-819B-A6E21C363BD8}" type="slidenum">
              <a:rPr lang="en-IN" smtClean="0"/>
              <a:t>3</a:t>
            </a:fld>
            <a:endParaRPr lang="en-IN"/>
          </a:p>
        </p:txBody>
      </p:sp>
    </p:spTree>
    <p:extLst>
      <p:ext uri="{BB962C8B-B14F-4D97-AF65-F5344CB8AC3E}">
        <p14:creationId xmlns:p14="http://schemas.microsoft.com/office/powerpoint/2010/main" val="135913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61432C9-1B15-4DFA-819B-A6E21C363BD8}" type="slidenum">
              <a:rPr lang="en-IN" smtClean="0"/>
              <a:t>14</a:t>
            </a:fld>
            <a:endParaRPr lang="en-IN"/>
          </a:p>
        </p:txBody>
      </p:sp>
    </p:spTree>
    <p:extLst>
      <p:ext uri="{BB962C8B-B14F-4D97-AF65-F5344CB8AC3E}">
        <p14:creationId xmlns:p14="http://schemas.microsoft.com/office/powerpoint/2010/main" val="145770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7.svg"/><Relationship Id="rId9"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7.svg"/><Relationship Id="rId7" Type="http://schemas.openxmlformats.org/officeDocument/2006/relationships/image" Target="../media/image2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TheAlgorithms/C-Plus-Plus" TargetMode="External"/><Relationship Id="rId3" Type="http://schemas.openxmlformats.org/officeDocument/2006/relationships/hyperlink" Target="https://git-scm.com/docs" TargetMode="External"/><Relationship Id="rId7" Type="http://schemas.openxmlformats.org/officeDocument/2006/relationships/hyperlink" Target="https://en.cppreference.co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cc.gnu.org/onlinedocs/" TargetMode="External"/><Relationship Id="rId5" Type="http://schemas.openxmlformats.org/officeDocument/2006/relationships/hyperlink" Target="https://code.visualstudio.com/docs" TargetMode="External"/><Relationship Id="rId10" Type="http://schemas.openxmlformats.org/officeDocument/2006/relationships/hyperlink" Target="https://github.com/llvm/llvm-project" TargetMode="External"/><Relationship Id="rId4" Type="http://schemas.openxmlformats.org/officeDocument/2006/relationships/hyperlink" Target="https://docs.github.com" TargetMode="External"/><Relationship Id="rId9" Type="http://schemas.openxmlformats.org/officeDocument/2006/relationships/hyperlink" Target="https://github.com/git/git"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png"/><Relationship Id="rId7"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 Id="rId9"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86" r="-86"/>
            </a:stretch>
          </a:blipFill>
        </p:spPr>
        <p:txBody>
          <a:bodyPr/>
          <a:lstStyle/>
          <a:p>
            <a:endParaRPr lang="en-IN" dirty="0"/>
          </a:p>
        </p:txBody>
      </p:sp>
      <p:sp>
        <p:nvSpPr>
          <p:cNvPr id="3" name="Freeform 3"/>
          <p:cNvSpPr/>
          <p:nvPr/>
        </p:nvSpPr>
        <p:spPr>
          <a:xfrm>
            <a:off x="12434939" y="3920614"/>
            <a:ext cx="1603501" cy="1714974"/>
          </a:xfrm>
          <a:custGeom>
            <a:avLst/>
            <a:gdLst/>
            <a:ahLst/>
            <a:cxnLst/>
            <a:rect l="l" t="t" r="r" b="b"/>
            <a:pathLst>
              <a:path w="1603501" h="1714974">
                <a:moveTo>
                  <a:pt x="0" y="0"/>
                </a:moveTo>
                <a:lnTo>
                  <a:pt x="1603501" y="0"/>
                </a:lnTo>
                <a:lnTo>
                  <a:pt x="1603501" y="1714974"/>
                </a:lnTo>
                <a:lnTo>
                  <a:pt x="0" y="171497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231048" y="207233"/>
            <a:ext cx="4846951" cy="4570868"/>
          </a:xfrm>
          <a:custGeom>
            <a:avLst/>
            <a:gdLst/>
            <a:ahLst/>
            <a:cxnLst/>
            <a:rect l="l" t="t" r="r" b="b"/>
            <a:pathLst>
              <a:path w="4846951" h="4570868">
                <a:moveTo>
                  <a:pt x="0" y="0"/>
                </a:moveTo>
                <a:lnTo>
                  <a:pt x="4846950" y="0"/>
                </a:lnTo>
                <a:lnTo>
                  <a:pt x="4846950" y="4570868"/>
                </a:lnTo>
                <a:lnTo>
                  <a:pt x="0" y="4570868"/>
                </a:lnTo>
                <a:lnTo>
                  <a:pt x="0" y="0"/>
                </a:lnTo>
                <a:close/>
              </a:path>
            </a:pathLst>
          </a:custGeom>
          <a:blipFill>
            <a:blip r:embed="rId5"/>
            <a:stretch>
              <a:fillRect l="-413501" t="-132980" r="-25985" b="-53055"/>
            </a:stretch>
          </a:blipFill>
        </p:spPr>
      </p:sp>
      <p:sp>
        <p:nvSpPr>
          <p:cNvPr id="5" name="Freeform 5"/>
          <p:cNvSpPr/>
          <p:nvPr/>
        </p:nvSpPr>
        <p:spPr>
          <a:xfrm>
            <a:off x="14038440" y="207233"/>
            <a:ext cx="3220860" cy="3307492"/>
          </a:xfrm>
          <a:custGeom>
            <a:avLst/>
            <a:gdLst/>
            <a:ahLst/>
            <a:cxnLst/>
            <a:rect l="l" t="t" r="r" b="b"/>
            <a:pathLst>
              <a:path w="3220860" h="3307492">
                <a:moveTo>
                  <a:pt x="0" y="0"/>
                </a:moveTo>
                <a:lnTo>
                  <a:pt x="3220860" y="0"/>
                </a:lnTo>
                <a:lnTo>
                  <a:pt x="3220860" y="3307492"/>
                </a:lnTo>
                <a:lnTo>
                  <a:pt x="0" y="3307492"/>
                </a:lnTo>
                <a:lnTo>
                  <a:pt x="0" y="0"/>
                </a:lnTo>
                <a:close/>
              </a:path>
            </a:pathLst>
          </a:custGeom>
          <a:blipFill>
            <a:blip r:embed="rId5"/>
            <a:stretch>
              <a:fillRect l="-491844" t="-193906" r="-196177" b="-89784"/>
            </a:stretch>
          </a:blipFill>
        </p:spPr>
      </p:sp>
      <p:sp>
        <p:nvSpPr>
          <p:cNvPr id="6" name="Freeform 6"/>
          <p:cNvSpPr/>
          <p:nvPr/>
        </p:nvSpPr>
        <p:spPr>
          <a:xfrm>
            <a:off x="7055622" y="210382"/>
            <a:ext cx="4143999" cy="2575680"/>
          </a:xfrm>
          <a:custGeom>
            <a:avLst/>
            <a:gdLst/>
            <a:ahLst/>
            <a:cxnLst/>
            <a:rect l="l" t="t" r="r" b="b"/>
            <a:pathLst>
              <a:path w="4143999" h="2575680">
                <a:moveTo>
                  <a:pt x="0" y="0"/>
                </a:moveTo>
                <a:lnTo>
                  <a:pt x="4143999" y="0"/>
                </a:lnTo>
                <a:lnTo>
                  <a:pt x="4143999" y="2575680"/>
                </a:lnTo>
                <a:lnTo>
                  <a:pt x="0" y="2575680"/>
                </a:lnTo>
                <a:lnTo>
                  <a:pt x="0" y="0"/>
                </a:lnTo>
                <a:close/>
              </a:path>
            </a:pathLst>
          </a:custGeom>
          <a:blipFill>
            <a:blip r:embed="rId6"/>
            <a:stretch>
              <a:fillRect l="-15566" t="-17130" r="-25063" b="-9677"/>
            </a:stretch>
          </a:blipFill>
        </p:spPr>
      </p:sp>
      <p:sp>
        <p:nvSpPr>
          <p:cNvPr id="7" name="TextBox 7"/>
          <p:cNvSpPr txBox="1"/>
          <p:nvPr/>
        </p:nvSpPr>
        <p:spPr>
          <a:xfrm>
            <a:off x="6020729" y="2614613"/>
            <a:ext cx="6246542" cy="1628775"/>
          </a:xfrm>
          <a:prstGeom prst="rect">
            <a:avLst/>
          </a:prstGeom>
        </p:spPr>
        <p:txBody>
          <a:bodyPr lIns="0" tIns="0" rIns="0" bIns="0" rtlCol="0" anchor="t">
            <a:spAutoFit/>
          </a:bodyPr>
          <a:lstStyle/>
          <a:p>
            <a:pPr algn="l">
              <a:lnSpc>
                <a:spcPts val="11508"/>
              </a:lnSpc>
            </a:pPr>
            <a:r>
              <a:rPr lang="en-US" sz="9590" b="1" u="sng">
                <a:solidFill>
                  <a:srgbClr val="F4B43C"/>
                </a:solidFill>
                <a:latin typeface="Consolas Bold"/>
                <a:ea typeface="Consolas Bold"/>
                <a:cs typeface="Consolas Bold"/>
                <a:sym typeface="Consolas Bold"/>
              </a:rPr>
              <a:t>MINI-LANG</a:t>
            </a:r>
          </a:p>
        </p:txBody>
      </p:sp>
      <p:sp>
        <p:nvSpPr>
          <p:cNvPr id="9" name="TextBox 9"/>
          <p:cNvSpPr txBox="1"/>
          <p:nvPr/>
        </p:nvSpPr>
        <p:spPr>
          <a:xfrm>
            <a:off x="5743191" y="4176713"/>
            <a:ext cx="6768860" cy="1866900"/>
          </a:xfrm>
          <a:prstGeom prst="rect">
            <a:avLst/>
          </a:prstGeom>
        </p:spPr>
        <p:txBody>
          <a:bodyPr lIns="0" tIns="0" rIns="0" bIns="0" rtlCol="0" anchor="t">
            <a:spAutoFit/>
          </a:bodyPr>
          <a:lstStyle/>
          <a:p>
            <a:pPr algn="ctr">
              <a:lnSpc>
                <a:spcPts val="4799"/>
              </a:lnSpc>
            </a:pPr>
            <a:r>
              <a:rPr lang="en-US" sz="3999" b="1" u="sng" dirty="0">
                <a:solidFill>
                  <a:srgbClr val="FFFFFF"/>
                </a:solidFill>
                <a:latin typeface="Consolas Bold"/>
                <a:ea typeface="Consolas Bold"/>
                <a:cs typeface="Consolas Bold"/>
                <a:sym typeface="Consolas Bold"/>
              </a:rPr>
              <a:t>AN OPEN-SOURCE CUSTOM </a:t>
            </a:r>
          </a:p>
          <a:p>
            <a:pPr algn="ctr">
              <a:lnSpc>
                <a:spcPts val="4799"/>
              </a:lnSpc>
            </a:pPr>
            <a:r>
              <a:rPr lang="en-US" sz="3999" b="1" u="sng" dirty="0">
                <a:solidFill>
                  <a:srgbClr val="FFFFFF"/>
                </a:solidFill>
                <a:latin typeface="Consolas Bold"/>
                <a:ea typeface="Consolas Bold"/>
                <a:cs typeface="Consolas Bold"/>
                <a:sym typeface="Consolas Bold"/>
              </a:rPr>
              <a:t>PROGRAMMING LANGUAGE</a:t>
            </a:r>
          </a:p>
          <a:p>
            <a:pPr algn="ctr">
              <a:lnSpc>
                <a:spcPts val="4799"/>
              </a:lnSpc>
            </a:pPr>
            <a:r>
              <a:rPr lang="en-US" sz="3999" b="1" u="sng" dirty="0">
                <a:solidFill>
                  <a:srgbClr val="FFFFFF"/>
                </a:solidFill>
                <a:latin typeface="Consolas Bold"/>
                <a:ea typeface="Consolas Bold"/>
                <a:cs typeface="Consolas Bold"/>
                <a:sym typeface="Consolas Bold"/>
              </a:rPr>
              <a:t>&amp; INTERPRETER</a:t>
            </a:r>
          </a:p>
        </p:txBody>
      </p:sp>
      <p:sp>
        <p:nvSpPr>
          <p:cNvPr id="10" name="TextBox 10"/>
          <p:cNvSpPr txBox="1"/>
          <p:nvPr/>
        </p:nvSpPr>
        <p:spPr>
          <a:xfrm>
            <a:off x="4332389" y="6491821"/>
            <a:ext cx="9623221" cy="3299869"/>
          </a:xfrm>
          <a:prstGeom prst="rect">
            <a:avLst/>
          </a:prstGeom>
        </p:spPr>
        <p:txBody>
          <a:bodyPr lIns="0" tIns="0" rIns="0" bIns="0" rtlCol="0" anchor="t">
            <a:spAutoFit/>
          </a:bodyPr>
          <a:lstStyle/>
          <a:p>
            <a:pPr algn="ctr">
              <a:lnSpc>
                <a:spcPts val="4264"/>
              </a:lnSpc>
            </a:pPr>
            <a:r>
              <a:rPr lang="en-US" sz="3553" b="1" dirty="0">
                <a:solidFill>
                  <a:srgbClr val="FFFFFF"/>
                </a:solidFill>
                <a:latin typeface="Consolas Bold"/>
                <a:ea typeface="Consolas Bold"/>
                <a:cs typeface="Consolas Bold"/>
                <a:sym typeface="Consolas Bold"/>
              </a:rPr>
              <a:t>T</a:t>
            </a:r>
            <a:r>
              <a:rPr lang="en-US" sz="3553" dirty="0">
                <a:solidFill>
                  <a:srgbClr val="FFFFFF"/>
                </a:solidFill>
                <a:latin typeface="Consolas"/>
                <a:ea typeface="Consolas"/>
                <a:cs typeface="Consolas"/>
                <a:sym typeface="Consolas"/>
              </a:rPr>
              <a:t>EAM MEMBERS -</a:t>
            </a:r>
          </a:p>
          <a:p>
            <a:pPr algn="l">
              <a:lnSpc>
                <a:spcPts val="4264"/>
              </a:lnSpc>
            </a:pPr>
            <a:r>
              <a:rPr lang="en-US" sz="3553" dirty="0">
                <a:solidFill>
                  <a:srgbClr val="FFFFFF"/>
                </a:solidFill>
                <a:latin typeface="Consolas"/>
                <a:ea typeface="Consolas"/>
                <a:cs typeface="Consolas"/>
                <a:sym typeface="Consolas"/>
              </a:rPr>
              <a:t>1) RAGHAV SHARMA       992501030068</a:t>
            </a:r>
          </a:p>
          <a:p>
            <a:pPr algn="l">
              <a:lnSpc>
                <a:spcPts val="4264"/>
              </a:lnSpc>
            </a:pPr>
            <a:r>
              <a:rPr lang="en-US" sz="3553" dirty="0">
                <a:solidFill>
                  <a:srgbClr val="FFFFFF"/>
                </a:solidFill>
                <a:latin typeface="Consolas"/>
                <a:ea typeface="Consolas"/>
                <a:cs typeface="Consolas"/>
                <a:sym typeface="Consolas"/>
              </a:rPr>
              <a:t>2) KASHVI BHATIA       992501030086</a:t>
            </a:r>
          </a:p>
          <a:p>
            <a:pPr algn="l">
              <a:lnSpc>
                <a:spcPts val="4264"/>
              </a:lnSpc>
            </a:pPr>
            <a:r>
              <a:rPr lang="en-US" sz="3553" dirty="0">
                <a:solidFill>
                  <a:srgbClr val="FFFFFF"/>
                </a:solidFill>
                <a:latin typeface="Consolas"/>
                <a:ea typeface="Consolas"/>
                <a:cs typeface="Consolas"/>
                <a:sym typeface="Consolas"/>
              </a:rPr>
              <a:t>3) YASHIKA KHANDELWAL  992501030088</a:t>
            </a:r>
          </a:p>
          <a:p>
            <a:pPr algn="l">
              <a:lnSpc>
                <a:spcPts val="4264"/>
              </a:lnSpc>
            </a:pPr>
            <a:r>
              <a:rPr lang="en-US" sz="3553" dirty="0">
                <a:solidFill>
                  <a:srgbClr val="FFFFFF"/>
                </a:solidFill>
                <a:latin typeface="Consolas"/>
                <a:ea typeface="Consolas"/>
                <a:cs typeface="Consolas"/>
                <a:sym typeface="Consolas"/>
              </a:rPr>
              <a:t>4) SIDDHI GOEL         992501030061</a:t>
            </a:r>
          </a:p>
          <a:p>
            <a:pPr algn="l">
              <a:lnSpc>
                <a:spcPts val="4264"/>
              </a:lnSpc>
            </a:pPr>
            <a:r>
              <a:rPr lang="en-US" sz="3553" dirty="0">
                <a:solidFill>
                  <a:srgbClr val="FFFFFF"/>
                </a:solidFill>
                <a:latin typeface="Consolas"/>
                <a:ea typeface="Consolas"/>
                <a:cs typeface="Consolas"/>
                <a:sym typeface="Consolas"/>
              </a:rPr>
              <a:t>5) SUHAANI SINGH       992501030136</a:t>
            </a:r>
          </a:p>
        </p:txBody>
      </p:sp>
      <p:sp>
        <p:nvSpPr>
          <p:cNvPr id="11" name="Rectangle 10">
            <a:extLst>
              <a:ext uri="{FF2B5EF4-FFF2-40B4-BE49-F238E27FC236}">
                <a16:creationId xmlns:a16="http://schemas.microsoft.com/office/drawing/2014/main" id="{FF8B9512-8730-B841-FBBA-B9923682FB65}"/>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TextBox 3"/>
          <p:cNvSpPr txBox="1"/>
          <p:nvPr/>
        </p:nvSpPr>
        <p:spPr>
          <a:xfrm>
            <a:off x="3206941" y="733425"/>
            <a:ext cx="4438755" cy="600075"/>
          </a:xfrm>
          <a:prstGeom prst="rect">
            <a:avLst/>
          </a:prstGeom>
        </p:spPr>
        <p:txBody>
          <a:bodyPr lIns="0" tIns="0" rIns="0" bIns="0" rtlCol="0" anchor="t">
            <a:spAutoFit/>
          </a:bodyPr>
          <a:lstStyle/>
          <a:p>
            <a:pPr algn="l">
              <a:lnSpc>
                <a:spcPts val="4860"/>
              </a:lnSpc>
            </a:pPr>
            <a:r>
              <a:rPr lang="en-US" sz="4050" b="1" u="sng">
                <a:solidFill>
                  <a:srgbClr val="D29922"/>
                </a:solidFill>
                <a:latin typeface="Aptos Bold"/>
                <a:ea typeface="Aptos Bold"/>
                <a:cs typeface="Aptos Bold"/>
                <a:sym typeface="Aptos Bold"/>
              </a:rPr>
              <a:t>THE PROBLEM</a:t>
            </a:r>
          </a:p>
        </p:txBody>
      </p:sp>
      <p:sp>
        <p:nvSpPr>
          <p:cNvPr id="4" name="TextBox 4"/>
          <p:cNvSpPr txBox="1"/>
          <p:nvPr/>
        </p:nvSpPr>
        <p:spPr>
          <a:xfrm>
            <a:off x="3206941" y="1400175"/>
            <a:ext cx="11577583" cy="3743325"/>
          </a:xfrm>
          <a:prstGeom prst="rect">
            <a:avLst/>
          </a:prstGeom>
        </p:spPr>
        <p:txBody>
          <a:bodyPr lIns="0" tIns="0" rIns="0" bIns="0" rtlCol="0" anchor="t">
            <a:spAutoFit/>
          </a:bodyPr>
          <a:lstStyle/>
          <a:p>
            <a:pPr algn="l">
              <a:lnSpc>
                <a:spcPts val="4200"/>
              </a:lnSpc>
            </a:pPr>
            <a:r>
              <a:rPr lang="en-US" sz="3500">
                <a:solidFill>
                  <a:srgbClr val="EBEDF0"/>
                </a:solidFill>
                <a:latin typeface="Aptos"/>
                <a:ea typeface="Aptos"/>
                <a:cs typeface="Aptos"/>
                <a:sym typeface="Aptos"/>
              </a:rPr>
              <a:t>• Interpreter concepts are often learned theoretically.</a:t>
            </a:r>
          </a:p>
          <a:p>
            <a:pPr algn="l">
              <a:lnSpc>
                <a:spcPts val="4200"/>
              </a:lnSpc>
            </a:pPr>
            <a:r>
              <a:rPr lang="en-US" sz="3500">
                <a:solidFill>
                  <a:srgbClr val="EBEDF0"/>
                </a:solidFill>
                <a:latin typeface="Aptos"/>
                <a:ea typeface="Aptos"/>
                <a:cs typeface="Aptos"/>
                <a:sym typeface="Aptos"/>
              </a:rPr>
              <a:t>• Real interpreters such as Python/JavaScript engines are highly complex.</a:t>
            </a:r>
          </a:p>
          <a:p>
            <a:pPr algn="l">
              <a:lnSpc>
                <a:spcPts val="4200"/>
              </a:lnSpc>
            </a:pPr>
            <a:r>
              <a:rPr lang="en-US" sz="3500">
                <a:solidFill>
                  <a:srgbClr val="EBEDF0"/>
                </a:solidFill>
                <a:latin typeface="Aptos"/>
                <a:ea typeface="Aptos"/>
                <a:cs typeface="Aptos"/>
                <a:sym typeface="Aptos"/>
              </a:rPr>
              <a:t>• We wanted a small interpreter whose internal stages could be understood and implemented.</a:t>
            </a:r>
          </a:p>
          <a:p>
            <a:pPr algn="l">
              <a:lnSpc>
                <a:spcPts val="4200"/>
              </a:lnSpc>
            </a:pPr>
            <a:r>
              <a:rPr lang="en-US" sz="3500">
                <a:solidFill>
                  <a:srgbClr val="EBEDF0"/>
                </a:solidFill>
                <a:latin typeface="Aptos"/>
                <a:ea typeface="Aptos"/>
                <a:cs typeface="Aptos"/>
                <a:sym typeface="Aptos"/>
              </a:rPr>
              <a:t>• The project also provided hands-on experience with Git, GitHub and collaborative open-source practices.</a:t>
            </a:r>
          </a:p>
        </p:txBody>
      </p:sp>
      <p:sp>
        <p:nvSpPr>
          <p:cNvPr id="5" name="TextBox 5"/>
          <p:cNvSpPr txBox="1"/>
          <p:nvPr/>
        </p:nvSpPr>
        <p:spPr>
          <a:xfrm>
            <a:off x="3206941" y="5513738"/>
            <a:ext cx="3248797" cy="600075"/>
          </a:xfrm>
          <a:prstGeom prst="rect">
            <a:avLst/>
          </a:prstGeom>
        </p:spPr>
        <p:txBody>
          <a:bodyPr lIns="0" tIns="0" rIns="0" bIns="0" rtlCol="0" anchor="t">
            <a:spAutoFit/>
          </a:bodyPr>
          <a:lstStyle/>
          <a:p>
            <a:pPr algn="l">
              <a:lnSpc>
                <a:spcPts val="4860"/>
              </a:lnSpc>
            </a:pPr>
            <a:r>
              <a:rPr lang="en-US" sz="4050" b="1" u="sng">
                <a:solidFill>
                  <a:srgbClr val="F85149"/>
                </a:solidFill>
                <a:latin typeface="Aptos Bold"/>
                <a:ea typeface="Aptos Bold"/>
                <a:cs typeface="Aptos Bold"/>
                <a:sym typeface="Aptos Bold"/>
              </a:rPr>
              <a:t>OUR GOAL</a:t>
            </a:r>
          </a:p>
        </p:txBody>
      </p:sp>
      <p:sp>
        <p:nvSpPr>
          <p:cNvPr id="6" name="TextBox 6"/>
          <p:cNvSpPr txBox="1"/>
          <p:nvPr/>
        </p:nvSpPr>
        <p:spPr>
          <a:xfrm>
            <a:off x="2871979" y="6475763"/>
            <a:ext cx="11912545" cy="2619375"/>
          </a:xfrm>
          <a:prstGeom prst="rect">
            <a:avLst/>
          </a:prstGeom>
        </p:spPr>
        <p:txBody>
          <a:bodyPr lIns="0" tIns="0" rIns="0" bIns="0" rtlCol="0" anchor="t">
            <a:spAutoFit/>
          </a:bodyPr>
          <a:lstStyle/>
          <a:p>
            <a:pPr marL="745438" lvl="1" indent="-372719" algn="l">
              <a:lnSpc>
                <a:spcPts val="4143"/>
              </a:lnSpc>
              <a:buFont typeface="Arial"/>
              <a:buChar char="•"/>
            </a:pPr>
            <a:r>
              <a:rPr lang="en-US" sz="3452">
                <a:solidFill>
                  <a:srgbClr val="EBEDF0"/>
                </a:solidFill>
                <a:latin typeface="Aptos"/>
                <a:ea typeface="Aptos"/>
                <a:cs typeface="Aptos"/>
                <a:sym typeface="Aptos"/>
              </a:rPr>
              <a:t>Build a lightweight command-based programming language interpreter in C++.</a:t>
            </a:r>
          </a:p>
          <a:p>
            <a:pPr marL="745438" lvl="1" indent="-372719" algn="l">
              <a:lnSpc>
                <a:spcPts val="4143"/>
              </a:lnSpc>
              <a:buFont typeface="Arial"/>
              <a:buChar char="•"/>
            </a:pPr>
            <a:r>
              <a:rPr lang="en-US" sz="3452">
                <a:solidFill>
                  <a:srgbClr val="EBEDF0"/>
                </a:solidFill>
                <a:latin typeface="Aptos"/>
                <a:ea typeface="Aptos"/>
                <a:cs typeface="Aptos"/>
                <a:sym typeface="Aptos"/>
              </a:rPr>
              <a:t>While applying professional version-control, documentation, branching, pull-request and release practices.</a:t>
            </a:r>
          </a:p>
        </p:txBody>
      </p:sp>
      <p:sp>
        <p:nvSpPr>
          <p:cNvPr id="9" name="Rectangle 8">
            <a:extLst>
              <a:ext uri="{FF2B5EF4-FFF2-40B4-BE49-F238E27FC236}">
                <a16:creationId xmlns:a16="http://schemas.microsoft.com/office/drawing/2014/main" id="{17D56A94-9514-1E31-41EC-C53FC5C95C78}"/>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2</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86" r="-86"/>
            </a:stretch>
          </a:blipFill>
        </p:spPr>
      </p:sp>
      <p:sp>
        <p:nvSpPr>
          <p:cNvPr id="3" name="Freeform 3"/>
          <p:cNvSpPr/>
          <p:nvPr/>
        </p:nvSpPr>
        <p:spPr>
          <a:xfrm>
            <a:off x="11188996" y="2699283"/>
            <a:ext cx="6990504" cy="6834501"/>
          </a:xfrm>
          <a:custGeom>
            <a:avLst/>
            <a:gdLst/>
            <a:ahLst/>
            <a:cxnLst/>
            <a:rect l="l" t="t" r="r" b="b"/>
            <a:pathLst>
              <a:path w="6990504" h="6834501">
                <a:moveTo>
                  <a:pt x="0" y="0"/>
                </a:moveTo>
                <a:lnTo>
                  <a:pt x="6990504" y="0"/>
                </a:lnTo>
                <a:lnTo>
                  <a:pt x="6990504" y="6834501"/>
                </a:lnTo>
                <a:lnTo>
                  <a:pt x="0" y="6834501"/>
                </a:lnTo>
                <a:lnTo>
                  <a:pt x="0" y="0"/>
                </a:lnTo>
                <a:close/>
              </a:path>
            </a:pathLst>
          </a:custGeom>
          <a:blipFill>
            <a:blip r:embed="rId4"/>
            <a:stretch>
              <a:fillRect l="-251" t="-28161" r="-13763"/>
            </a:stretch>
          </a:blipFill>
        </p:spPr>
      </p:sp>
      <p:sp>
        <p:nvSpPr>
          <p:cNvPr id="4" name="Freeform 4"/>
          <p:cNvSpPr/>
          <p:nvPr/>
        </p:nvSpPr>
        <p:spPr>
          <a:xfrm>
            <a:off x="1562182" y="439179"/>
            <a:ext cx="9408642" cy="9352512"/>
          </a:xfrm>
          <a:custGeom>
            <a:avLst/>
            <a:gdLst/>
            <a:ahLst/>
            <a:cxnLst/>
            <a:rect l="l" t="t" r="r" b="b"/>
            <a:pathLst>
              <a:path w="9408642" h="9408642">
                <a:moveTo>
                  <a:pt x="0" y="0"/>
                </a:moveTo>
                <a:lnTo>
                  <a:pt x="9408642" y="0"/>
                </a:lnTo>
                <a:lnTo>
                  <a:pt x="9408642" y="9408642"/>
                </a:lnTo>
                <a:lnTo>
                  <a:pt x="0" y="940864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1951118" y="2098476"/>
            <a:ext cx="5574881" cy="352425"/>
          </a:xfrm>
          <a:prstGeom prst="rect">
            <a:avLst/>
          </a:prstGeom>
        </p:spPr>
        <p:txBody>
          <a:bodyPr wrap="square" lIns="0" tIns="0" rIns="0" bIns="0" rtlCol="0" anchor="t">
            <a:spAutoFit/>
          </a:bodyPr>
          <a:lstStyle/>
          <a:p>
            <a:pPr algn="ctr">
              <a:lnSpc>
                <a:spcPts val="2702"/>
              </a:lnSpc>
              <a:spcBef>
                <a:spcPct val="0"/>
              </a:spcBef>
            </a:pPr>
            <a:r>
              <a:rPr lang="en-US" sz="2251" b="1" u="sng" dirty="0">
                <a:solidFill>
                  <a:srgbClr val="FFFFFF"/>
                </a:solidFill>
                <a:latin typeface="Aptos Bold"/>
                <a:ea typeface="Aptos Bold"/>
                <a:cs typeface="Aptos Bold"/>
                <a:sym typeface="Aptos Bold"/>
              </a:rPr>
              <a:t>AVAILABLE COMMANDS OF MINI-LANG</a:t>
            </a:r>
          </a:p>
        </p:txBody>
      </p:sp>
      <p:sp>
        <p:nvSpPr>
          <p:cNvPr id="7" name="Freeform 7"/>
          <p:cNvSpPr/>
          <p:nvPr/>
        </p:nvSpPr>
        <p:spPr>
          <a:xfrm>
            <a:off x="211635" y="454380"/>
            <a:ext cx="9337311" cy="9337311"/>
          </a:xfrm>
          <a:custGeom>
            <a:avLst/>
            <a:gdLst/>
            <a:ahLst/>
            <a:cxnLst/>
            <a:rect l="l" t="t" r="r" b="b"/>
            <a:pathLst>
              <a:path w="9337311" h="9337311">
                <a:moveTo>
                  <a:pt x="0" y="0"/>
                </a:moveTo>
                <a:lnTo>
                  <a:pt x="9337311" y="0"/>
                </a:lnTo>
                <a:lnTo>
                  <a:pt x="9337311" y="9337310"/>
                </a:lnTo>
                <a:lnTo>
                  <a:pt x="0" y="933731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593349" y="1583848"/>
            <a:ext cx="10160296" cy="7119304"/>
          </a:xfrm>
          <a:prstGeom prst="rect">
            <a:avLst/>
          </a:prstGeom>
        </p:spPr>
        <p:txBody>
          <a:bodyPr lIns="0" tIns="0" rIns="0" bIns="0" rtlCol="0" anchor="t">
            <a:spAutoFit/>
          </a:bodyPr>
          <a:lstStyle/>
          <a:p>
            <a:pPr algn="l">
              <a:lnSpc>
                <a:spcPts val="2818"/>
              </a:lnSpc>
            </a:pPr>
            <a:r>
              <a:rPr lang="en-US" sz="2348" dirty="0">
                <a:solidFill>
                  <a:srgbClr val="EBEDF0"/>
                </a:solidFill>
                <a:latin typeface="Aptos"/>
                <a:ea typeface="Aptos"/>
                <a:cs typeface="Aptos"/>
                <a:sym typeface="Aptos"/>
              </a:rPr>
              <a:t>1) </a:t>
            </a:r>
            <a:r>
              <a:rPr lang="en-US" sz="2348" dirty="0" err="1">
                <a:solidFill>
                  <a:srgbClr val="EBEDF0"/>
                </a:solidFill>
                <a:latin typeface="Aptos"/>
                <a:ea typeface="Aptos"/>
                <a:cs typeface="Aptos"/>
                <a:sym typeface="Aptos"/>
              </a:rPr>
              <a:t>MiniLang</a:t>
            </a:r>
            <a:r>
              <a:rPr lang="en-US" sz="2348" dirty="0">
                <a:solidFill>
                  <a:srgbClr val="EBEDF0"/>
                </a:solidFill>
                <a:latin typeface="Aptos"/>
                <a:ea typeface="Aptos"/>
                <a:cs typeface="Aptos"/>
                <a:sym typeface="Aptos"/>
              </a:rPr>
              <a:t> is a lightweight command-based programming language .</a:t>
            </a:r>
          </a:p>
          <a:p>
            <a:pPr algn="l">
              <a:lnSpc>
                <a:spcPts val="2818"/>
              </a:lnSpc>
            </a:pPr>
            <a:endParaRPr lang="en-US" sz="2348" dirty="0">
              <a:solidFill>
                <a:srgbClr val="EBEDF0"/>
              </a:solidFill>
              <a:latin typeface="Aptos"/>
              <a:ea typeface="Aptos"/>
              <a:cs typeface="Aptos"/>
              <a:sym typeface="Aptos"/>
            </a:endParaRPr>
          </a:p>
          <a:p>
            <a:pPr algn="l">
              <a:lnSpc>
                <a:spcPts val="2818"/>
              </a:lnSpc>
            </a:pPr>
            <a:r>
              <a:rPr lang="en-US" sz="2348" dirty="0">
                <a:solidFill>
                  <a:srgbClr val="EBEDF0"/>
                </a:solidFill>
                <a:latin typeface="Aptos"/>
                <a:ea typeface="Aptos"/>
                <a:cs typeface="Aptos"/>
                <a:sym typeface="Aptos"/>
              </a:rPr>
              <a:t>2) The project aims to demonstrate the fundamental concepts of interpreter design while following modern Open-Source Software Development practices using Git and GitHub. </a:t>
            </a:r>
          </a:p>
          <a:p>
            <a:pPr algn="l">
              <a:lnSpc>
                <a:spcPts val="2818"/>
              </a:lnSpc>
            </a:pPr>
            <a:endParaRPr lang="en-US" sz="2348" dirty="0">
              <a:solidFill>
                <a:srgbClr val="EBEDF0"/>
              </a:solidFill>
              <a:latin typeface="Aptos"/>
              <a:ea typeface="Aptos"/>
              <a:cs typeface="Aptos"/>
              <a:sym typeface="Aptos"/>
            </a:endParaRPr>
          </a:p>
          <a:p>
            <a:pPr algn="l">
              <a:lnSpc>
                <a:spcPts val="2818"/>
              </a:lnSpc>
            </a:pPr>
            <a:r>
              <a:rPr lang="en-US" sz="2348" dirty="0">
                <a:solidFill>
                  <a:srgbClr val="EBEDF0"/>
                </a:solidFill>
                <a:latin typeface="Aptos"/>
                <a:ea typeface="Aptos"/>
                <a:cs typeface="Aptos"/>
                <a:sym typeface="Aptos"/>
              </a:rPr>
              <a:t>3) The interpreter allows users to execute custom commands through a command-line interface. </a:t>
            </a:r>
          </a:p>
          <a:p>
            <a:pPr algn="l">
              <a:lnSpc>
                <a:spcPts val="2818"/>
              </a:lnSpc>
            </a:pPr>
            <a:endParaRPr lang="en-US" sz="2348" dirty="0">
              <a:solidFill>
                <a:srgbClr val="EBEDF0"/>
              </a:solidFill>
              <a:latin typeface="Aptos"/>
              <a:ea typeface="Aptos"/>
              <a:cs typeface="Aptos"/>
              <a:sym typeface="Aptos"/>
            </a:endParaRPr>
          </a:p>
          <a:p>
            <a:pPr algn="l">
              <a:lnSpc>
                <a:spcPts val="2818"/>
              </a:lnSpc>
            </a:pPr>
            <a:r>
              <a:rPr lang="en-US" sz="2348" dirty="0">
                <a:solidFill>
                  <a:srgbClr val="EBEDF0"/>
                </a:solidFill>
                <a:latin typeface="Aptos"/>
                <a:ea typeface="Aptos"/>
                <a:cs typeface="Aptos"/>
                <a:sym typeface="Aptos"/>
              </a:rPr>
              <a:t>4) The project has been designed using Object-Oriented Programming principles such as abstraction, encapsulation, </a:t>
            </a:r>
          </a:p>
          <a:p>
            <a:pPr algn="l">
              <a:lnSpc>
                <a:spcPts val="2818"/>
              </a:lnSpc>
            </a:pPr>
            <a:r>
              <a:rPr lang="en-US" sz="2348" dirty="0">
                <a:solidFill>
                  <a:srgbClr val="EBEDF0"/>
                </a:solidFill>
                <a:latin typeface="Aptos"/>
                <a:ea typeface="Aptos"/>
                <a:cs typeface="Aptos"/>
                <a:sym typeface="Aptos"/>
              </a:rPr>
              <a:t>inheritance, and polymorphism, resulting in a modular and maintainable architecture.</a:t>
            </a:r>
          </a:p>
          <a:p>
            <a:pPr algn="l">
              <a:lnSpc>
                <a:spcPts val="2818"/>
              </a:lnSpc>
            </a:pPr>
            <a:endParaRPr lang="en-US" sz="2348" dirty="0">
              <a:solidFill>
                <a:srgbClr val="EBEDF0"/>
              </a:solidFill>
              <a:latin typeface="Aptos"/>
              <a:ea typeface="Aptos"/>
              <a:cs typeface="Aptos"/>
              <a:sym typeface="Aptos"/>
            </a:endParaRPr>
          </a:p>
          <a:p>
            <a:pPr algn="l">
              <a:lnSpc>
                <a:spcPts val="2818"/>
              </a:lnSpc>
            </a:pPr>
            <a:r>
              <a:rPr lang="en-US" sz="2348" dirty="0">
                <a:solidFill>
                  <a:srgbClr val="EBEDF0"/>
                </a:solidFill>
                <a:latin typeface="Aptos"/>
                <a:ea typeface="Aptos"/>
                <a:cs typeface="Aptos"/>
                <a:sym typeface="Aptos"/>
              </a:rPr>
              <a:t>5) Apart from software implementation, the project emphasizes collaborative software development using Git and GitHub. The complete development workflow includes repository management, version control, branching strategies, pull requests, issue tracking, documentation, releases, and collaborative code reviews.</a:t>
            </a:r>
          </a:p>
          <a:p>
            <a:pPr algn="l">
              <a:lnSpc>
                <a:spcPts val="2818"/>
              </a:lnSpc>
            </a:pPr>
            <a:endParaRPr lang="en-US" sz="2348" dirty="0">
              <a:solidFill>
                <a:srgbClr val="EBEDF0"/>
              </a:solidFill>
              <a:latin typeface="Aptos"/>
              <a:ea typeface="Aptos"/>
              <a:cs typeface="Aptos"/>
              <a:sym typeface="Aptos"/>
            </a:endParaRPr>
          </a:p>
        </p:txBody>
      </p:sp>
      <p:sp>
        <p:nvSpPr>
          <p:cNvPr id="9" name="TextBox 9"/>
          <p:cNvSpPr txBox="1"/>
          <p:nvPr/>
        </p:nvSpPr>
        <p:spPr>
          <a:xfrm>
            <a:off x="2288554" y="457200"/>
            <a:ext cx="7607498" cy="1028700"/>
          </a:xfrm>
          <a:prstGeom prst="rect">
            <a:avLst/>
          </a:prstGeom>
        </p:spPr>
        <p:txBody>
          <a:bodyPr lIns="0" tIns="0" rIns="0" bIns="0" rtlCol="0" anchor="t">
            <a:spAutoFit/>
          </a:bodyPr>
          <a:lstStyle/>
          <a:p>
            <a:pPr algn="l">
              <a:lnSpc>
                <a:spcPts val="7263"/>
              </a:lnSpc>
            </a:pPr>
            <a:r>
              <a:rPr lang="en-US" sz="6052" b="1" dirty="0">
                <a:solidFill>
                  <a:srgbClr val="F4B43C"/>
                </a:solidFill>
                <a:latin typeface="Consolas Bold"/>
                <a:ea typeface="Consolas Bold"/>
                <a:cs typeface="Consolas Bold"/>
                <a:sym typeface="Consolas Bold"/>
              </a:rPr>
              <a:t>WHAT IS MINILANG ?</a:t>
            </a:r>
          </a:p>
        </p:txBody>
      </p:sp>
      <p:sp>
        <p:nvSpPr>
          <p:cNvPr id="11" name="Rectangle 10">
            <a:extLst>
              <a:ext uri="{FF2B5EF4-FFF2-40B4-BE49-F238E27FC236}">
                <a16:creationId xmlns:a16="http://schemas.microsoft.com/office/drawing/2014/main" id="{E05F334C-A405-5908-5289-EFDBE6A90344}"/>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3</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2829431" y="5143501"/>
            <a:ext cx="6314569" cy="5143500"/>
          </a:xfrm>
          <a:custGeom>
            <a:avLst/>
            <a:gdLst/>
            <a:ahLst/>
            <a:cxnLst/>
            <a:rect l="l" t="t" r="r" b="b"/>
            <a:pathLst>
              <a:path w="6314569" h="6314569">
                <a:moveTo>
                  <a:pt x="0" y="0"/>
                </a:moveTo>
                <a:lnTo>
                  <a:pt x="6314569" y="0"/>
                </a:lnTo>
                <a:lnTo>
                  <a:pt x="6314569" y="6314569"/>
                </a:lnTo>
                <a:lnTo>
                  <a:pt x="0" y="631456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9383885" y="5143500"/>
            <a:ext cx="5481128" cy="5143500"/>
          </a:xfrm>
          <a:custGeom>
            <a:avLst/>
            <a:gdLst/>
            <a:ahLst/>
            <a:cxnLst/>
            <a:rect l="l" t="t" r="r" b="b"/>
            <a:pathLst>
              <a:path w="5481128" h="5481128">
                <a:moveTo>
                  <a:pt x="0" y="0"/>
                </a:moveTo>
                <a:lnTo>
                  <a:pt x="5481128" y="0"/>
                </a:lnTo>
                <a:lnTo>
                  <a:pt x="5481128" y="5481128"/>
                </a:lnTo>
                <a:lnTo>
                  <a:pt x="0" y="548112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041686" y="552450"/>
            <a:ext cx="16289188" cy="657225"/>
          </a:xfrm>
          <a:prstGeom prst="rect">
            <a:avLst/>
          </a:prstGeom>
        </p:spPr>
        <p:txBody>
          <a:bodyPr lIns="0" tIns="0" rIns="0" bIns="0" rtlCol="0" anchor="t">
            <a:spAutoFit/>
          </a:bodyPr>
          <a:lstStyle/>
          <a:p>
            <a:pPr algn="l">
              <a:lnSpc>
                <a:spcPts val="5224"/>
              </a:lnSpc>
            </a:pPr>
            <a:r>
              <a:rPr lang="en-US" sz="4353" b="1" u="sng">
                <a:solidFill>
                  <a:srgbClr val="F4B43C"/>
                </a:solidFill>
                <a:latin typeface="Aptos Bold"/>
                <a:ea typeface="Aptos Bold"/>
                <a:cs typeface="Aptos Bold"/>
                <a:sym typeface="Aptos Bold"/>
              </a:rPr>
              <a:t>HOW THE INTERPRETER WORKS ?</a:t>
            </a:r>
          </a:p>
        </p:txBody>
      </p:sp>
      <p:sp>
        <p:nvSpPr>
          <p:cNvPr id="6" name="TextBox 6"/>
          <p:cNvSpPr txBox="1"/>
          <p:nvPr/>
        </p:nvSpPr>
        <p:spPr>
          <a:xfrm>
            <a:off x="3041686" y="1501213"/>
            <a:ext cx="11551290" cy="3642287"/>
          </a:xfrm>
          <a:prstGeom prst="rect">
            <a:avLst/>
          </a:prstGeom>
        </p:spPr>
        <p:txBody>
          <a:bodyPr lIns="0" tIns="0" rIns="0" bIns="0" rtlCol="0" anchor="t">
            <a:spAutoFit/>
          </a:bodyPr>
          <a:lstStyle/>
          <a:p>
            <a:pPr algn="l">
              <a:lnSpc>
                <a:spcPts val="3203"/>
              </a:lnSpc>
            </a:pPr>
            <a:r>
              <a:rPr lang="en-US" sz="2669">
                <a:solidFill>
                  <a:srgbClr val="EBEDF0"/>
                </a:solidFill>
                <a:latin typeface="Aptos"/>
                <a:ea typeface="Aptos"/>
                <a:cs typeface="Aptos"/>
                <a:sym typeface="Aptos"/>
              </a:rPr>
              <a:t>The overall execution flow is as follows: </a:t>
            </a:r>
          </a:p>
          <a:p>
            <a:pPr algn="l">
              <a:lnSpc>
                <a:spcPts val="3203"/>
              </a:lnSpc>
            </a:pPr>
            <a:r>
              <a:rPr lang="en-US" sz="2669">
                <a:solidFill>
                  <a:srgbClr val="EBEDF0"/>
                </a:solidFill>
                <a:latin typeface="Aptos"/>
                <a:ea typeface="Aptos"/>
                <a:cs typeface="Aptos"/>
                <a:sym typeface="Aptos"/>
              </a:rPr>
              <a:t>1. The user enters a command. </a:t>
            </a:r>
          </a:p>
          <a:p>
            <a:pPr algn="l">
              <a:lnSpc>
                <a:spcPts val="3203"/>
              </a:lnSpc>
            </a:pPr>
            <a:r>
              <a:rPr lang="en-US" sz="2669">
                <a:solidFill>
                  <a:srgbClr val="EBEDF0"/>
                </a:solidFill>
                <a:latin typeface="Aptos"/>
                <a:ea typeface="Aptos"/>
                <a:cs typeface="Aptos"/>
                <a:sym typeface="Aptos"/>
              </a:rPr>
              <a:t>2. The tokenizer converts the command into tokens. </a:t>
            </a:r>
          </a:p>
          <a:p>
            <a:pPr algn="l">
              <a:lnSpc>
                <a:spcPts val="3203"/>
              </a:lnSpc>
            </a:pPr>
            <a:r>
              <a:rPr lang="en-US" sz="2669">
                <a:solidFill>
                  <a:srgbClr val="EBEDF0"/>
                </a:solidFill>
                <a:latin typeface="Aptos"/>
                <a:ea typeface="Aptos"/>
                <a:cs typeface="Aptos"/>
                <a:sym typeface="Aptos"/>
              </a:rPr>
              <a:t>3. The parser validates the command syntax. </a:t>
            </a:r>
          </a:p>
          <a:p>
            <a:pPr algn="l">
              <a:lnSpc>
                <a:spcPts val="3203"/>
              </a:lnSpc>
            </a:pPr>
            <a:r>
              <a:rPr lang="en-US" sz="2669">
                <a:solidFill>
                  <a:srgbClr val="EBEDF0"/>
                </a:solidFill>
                <a:latin typeface="Aptos"/>
                <a:ea typeface="Aptos"/>
                <a:cs typeface="Aptos"/>
                <a:sym typeface="Aptos"/>
              </a:rPr>
              <a:t>4. A corresponding command object is created.</a:t>
            </a:r>
          </a:p>
          <a:p>
            <a:pPr algn="l">
              <a:lnSpc>
                <a:spcPts val="3203"/>
              </a:lnSpc>
            </a:pPr>
            <a:r>
              <a:rPr lang="en-US" sz="2669">
                <a:solidFill>
                  <a:srgbClr val="EBEDF0"/>
                </a:solidFill>
                <a:latin typeface="Aptos"/>
                <a:ea typeface="Aptos"/>
                <a:cs typeface="Aptos"/>
                <a:sym typeface="Aptos"/>
              </a:rPr>
              <a:t>5. The command is inserted into the execution queue. </a:t>
            </a:r>
          </a:p>
          <a:p>
            <a:pPr algn="l">
              <a:lnSpc>
                <a:spcPts val="3203"/>
              </a:lnSpc>
            </a:pPr>
            <a:r>
              <a:rPr lang="en-US" sz="2669">
                <a:solidFill>
                  <a:srgbClr val="EBEDF0"/>
                </a:solidFill>
                <a:latin typeface="Aptos"/>
                <a:ea typeface="Aptos"/>
                <a:cs typeface="Aptos"/>
                <a:sym typeface="Aptos"/>
              </a:rPr>
              <a:t>6. The interpreter executes the queued command. </a:t>
            </a:r>
          </a:p>
          <a:p>
            <a:pPr algn="l">
              <a:lnSpc>
                <a:spcPts val="3203"/>
              </a:lnSpc>
            </a:pPr>
            <a:r>
              <a:rPr lang="en-US" sz="2669">
                <a:solidFill>
                  <a:srgbClr val="EBEDF0"/>
                </a:solidFill>
                <a:latin typeface="Aptos"/>
                <a:ea typeface="Aptos"/>
                <a:cs typeface="Aptos"/>
                <a:sym typeface="Aptos"/>
              </a:rPr>
              <a:t>7. Variables are created, updated, compared, or deleted. </a:t>
            </a:r>
          </a:p>
          <a:p>
            <a:pPr algn="l">
              <a:lnSpc>
                <a:spcPts val="3203"/>
              </a:lnSpc>
            </a:pPr>
            <a:r>
              <a:rPr lang="en-US" sz="2669">
                <a:solidFill>
                  <a:srgbClr val="EBEDF0"/>
                </a:solidFill>
                <a:latin typeface="Aptos"/>
                <a:ea typeface="Aptos"/>
                <a:cs typeface="Aptos"/>
                <a:sym typeface="Aptos"/>
              </a:rPr>
              <a:t>8. The result or error message is displayed on the console.</a:t>
            </a:r>
          </a:p>
        </p:txBody>
      </p:sp>
      <p:sp>
        <p:nvSpPr>
          <p:cNvPr id="7" name="TextBox 7"/>
          <p:cNvSpPr txBox="1"/>
          <p:nvPr/>
        </p:nvSpPr>
        <p:spPr>
          <a:xfrm>
            <a:off x="3041686" y="5438775"/>
            <a:ext cx="16289188" cy="657225"/>
          </a:xfrm>
          <a:prstGeom prst="rect">
            <a:avLst/>
          </a:prstGeom>
        </p:spPr>
        <p:txBody>
          <a:bodyPr lIns="0" tIns="0" rIns="0" bIns="0" rtlCol="0" anchor="t">
            <a:spAutoFit/>
          </a:bodyPr>
          <a:lstStyle/>
          <a:p>
            <a:pPr algn="l">
              <a:lnSpc>
                <a:spcPts val="5224"/>
              </a:lnSpc>
            </a:pPr>
            <a:r>
              <a:rPr lang="en-US" sz="4353" b="1" u="sng">
                <a:solidFill>
                  <a:srgbClr val="F4B43C"/>
                </a:solidFill>
                <a:latin typeface="Aptos Bold"/>
                <a:ea typeface="Aptos Bold"/>
                <a:cs typeface="Aptos Bold"/>
                <a:sym typeface="Aptos Bold"/>
              </a:rPr>
              <a:t>OBJECT - ORIENTED DESIGN </a:t>
            </a:r>
          </a:p>
        </p:txBody>
      </p:sp>
      <p:sp>
        <p:nvSpPr>
          <p:cNvPr id="8" name="TextBox 8"/>
          <p:cNvSpPr txBox="1"/>
          <p:nvPr/>
        </p:nvSpPr>
        <p:spPr>
          <a:xfrm>
            <a:off x="3041686" y="6391275"/>
            <a:ext cx="11551290" cy="3642287"/>
          </a:xfrm>
          <a:prstGeom prst="rect">
            <a:avLst/>
          </a:prstGeom>
        </p:spPr>
        <p:txBody>
          <a:bodyPr lIns="0" tIns="0" rIns="0" bIns="0" rtlCol="0" anchor="t">
            <a:spAutoFit/>
          </a:bodyPr>
          <a:lstStyle/>
          <a:p>
            <a:pPr algn="l">
              <a:lnSpc>
                <a:spcPts val="3203"/>
              </a:lnSpc>
            </a:pPr>
            <a:r>
              <a:rPr lang="en-US" sz="2669">
                <a:solidFill>
                  <a:srgbClr val="EBEDF0"/>
                </a:solidFill>
                <a:latin typeface="Aptos"/>
                <a:ea typeface="Aptos"/>
                <a:cs typeface="Aptos"/>
                <a:sym typeface="Aptos"/>
              </a:rPr>
              <a:t>MiniLang has been implemented using Object-Oriented Programming principles. </a:t>
            </a:r>
          </a:p>
          <a:p>
            <a:pPr algn="l">
              <a:lnSpc>
                <a:spcPts val="3203"/>
              </a:lnSpc>
            </a:pPr>
            <a:r>
              <a:rPr lang="en-US" sz="2669">
                <a:solidFill>
                  <a:srgbClr val="EBEDF0"/>
                </a:solidFill>
                <a:latin typeface="Aptos"/>
                <a:ea typeface="Aptos"/>
                <a:cs typeface="Aptos"/>
                <a:sym typeface="Aptos"/>
              </a:rPr>
              <a:t>• Encapsulation is used by storing variable information inside the Variable class. </a:t>
            </a:r>
          </a:p>
          <a:p>
            <a:pPr algn="l">
              <a:lnSpc>
                <a:spcPts val="3203"/>
              </a:lnSpc>
            </a:pPr>
            <a:r>
              <a:rPr lang="en-US" sz="2669">
                <a:solidFill>
                  <a:srgbClr val="EBEDF0"/>
                </a:solidFill>
                <a:latin typeface="Aptos"/>
                <a:ea typeface="Aptos"/>
                <a:cs typeface="Aptos"/>
                <a:sym typeface="Aptos"/>
              </a:rPr>
              <a:t>• Inheritance is implemented through the abstract Command class. </a:t>
            </a:r>
          </a:p>
          <a:p>
            <a:pPr algn="l">
              <a:lnSpc>
                <a:spcPts val="3203"/>
              </a:lnSpc>
            </a:pPr>
            <a:r>
              <a:rPr lang="en-US" sz="2669">
                <a:solidFill>
                  <a:srgbClr val="EBEDF0"/>
                </a:solidFill>
                <a:latin typeface="Aptos"/>
                <a:ea typeface="Aptos"/>
                <a:cs typeface="Aptos"/>
                <a:sym typeface="Aptos"/>
              </a:rPr>
              <a:t>• Polymorphism enables different command classes to implement their own version of the execute() function. </a:t>
            </a:r>
          </a:p>
          <a:p>
            <a:pPr algn="l">
              <a:lnSpc>
                <a:spcPts val="3203"/>
              </a:lnSpc>
            </a:pPr>
            <a:r>
              <a:rPr lang="en-US" sz="2669">
                <a:solidFill>
                  <a:srgbClr val="EBEDF0"/>
                </a:solidFill>
                <a:latin typeface="Aptos"/>
                <a:ea typeface="Aptos"/>
                <a:cs typeface="Aptos"/>
                <a:sym typeface="Aptos"/>
              </a:rPr>
              <a:t>• Abstraction simplifies command execution by hiding implementation details from the user</a:t>
            </a:r>
          </a:p>
        </p:txBody>
      </p:sp>
      <p:sp>
        <p:nvSpPr>
          <p:cNvPr id="10" name="Rectangle 9">
            <a:extLst>
              <a:ext uri="{FF2B5EF4-FFF2-40B4-BE49-F238E27FC236}">
                <a16:creationId xmlns:a16="http://schemas.microsoft.com/office/drawing/2014/main" id="{A3950DB0-120D-CF26-A08F-2986179AA2CB}"/>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4</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0" y="1260887"/>
            <a:ext cx="18288000" cy="9026113"/>
          </a:xfrm>
          <a:custGeom>
            <a:avLst/>
            <a:gdLst/>
            <a:ahLst/>
            <a:cxnLst/>
            <a:rect l="l" t="t" r="r" b="b"/>
            <a:pathLst>
              <a:path w="18288000" h="9026113">
                <a:moveTo>
                  <a:pt x="0" y="0"/>
                </a:moveTo>
                <a:lnTo>
                  <a:pt x="18288000" y="0"/>
                </a:lnTo>
                <a:lnTo>
                  <a:pt x="18288000" y="9026113"/>
                </a:lnTo>
                <a:lnTo>
                  <a:pt x="0" y="9026113"/>
                </a:lnTo>
                <a:lnTo>
                  <a:pt x="0" y="0"/>
                </a:lnTo>
                <a:close/>
              </a:path>
            </a:pathLst>
          </a:custGeom>
          <a:blipFill>
            <a:blip r:embed="rId3"/>
            <a:stretch>
              <a:fillRect l="-891" t="-7623" r="-891"/>
            </a:stretch>
          </a:blipFill>
        </p:spPr>
      </p:sp>
      <p:sp>
        <p:nvSpPr>
          <p:cNvPr id="4" name="TextBox 4"/>
          <p:cNvSpPr txBox="1"/>
          <p:nvPr/>
        </p:nvSpPr>
        <p:spPr>
          <a:xfrm>
            <a:off x="3438347" y="457200"/>
            <a:ext cx="11411307" cy="1028700"/>
          </a:xfrm>
          <a:prstGeom prst="rect">
            <a:avLst/>
          </a:prstGeom>
        </p:spPr>
        <p:txBody>
          <a:bodyPr lIns="0" tIns="0" rIns="0" bIns="0" rtlCol="0" anchor="t">
            <a:spAutoFit/>
          </a:bodyPr>
          <a:lstStyle/>
          <a:p>
            <a:pPr algn="l">
              <a:lnSpc>
                <a:spcPts val="7263"/>
              </a:lnSpc>
            </a:pPr>
            <a:r>
              <a:rPr lang="en-US" sz="6052" b="1" u="sng">
                <a:solidFill>
                  <a:srgbClr val="F4B43C"/>
                </a:solidFill>
                <a:latin typeface="Consolas Bold"/>
                <a:ea typeface="Consolas Bold"/>
                <a:cs typeface="Consolas Bold"/>
                <a:sym typeface="Consolas Bold"/>
              </a:rPr>
              <a:t>SYSTEM ARCHITECTURE DIAGRAM</a:t>
            </a:r>
          </a:p>
        </p:txBody>
      </p:sp>
      <p:sp>
        <p:nvSpPr>
          <p:cNvPr id="6" name="Rectangle 5">
            <a:extLst>
              <a:ext uri="{FF2B5EF4-FFF2-40B4-BE49-F238E27FC236}">
                <a16:creationId xmlns:a16="http://schemas.microsoft.com/office/drawing/2014/main" id="{B2C3C7DE-5692-9CFA-5040-B11DC03D885A}"/>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5</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txBody>
          <a:bodyPr/>
          <a:lstStyle/>
          <a:p>
            <a:r>
              <a:rPr lang="en-US" dirty="0"/>
              <a:t>V</a:t>
            </a:r>
            <a:endParaRPr lang="en-IN" dirty="0"/>
          </a:p>
        </p:txBody>
      </p:sp>
      <p:sp>
        <p:nvSpPr>
          <p:cNvPr id="3" name="Freeform 3"/>
          <p:cNvSpPr/>
          <p:nvPr/>
        </p:nvSpPr>
        <p:spPr>
          <a:xfrm>
            <a:off x="2044619" y="1673609"/>
            <a:ext cx="1465696" cy="1656154"/>
          </a:xfrm>
          <a:custGeom>
            <a:avLst/>
            <a:gdLst/>
            <a:ahLst/>
            <a:cxnLst/>
            <a:rect l="l" t="t" r="r" b="b"/>
            <a:pathLst>
              <a:path w="1465696" h="1656154">
                <a:moveTo>
                  <a:pt x="0" y="0"/>
                </a:moveTo>
                <a:lnTo>
                  <a:pt x="1465696" y="0"/>
                </a:lnTo>
                <a:lnTo>
                  <a:pt x="1465696" y="1656154"/>
                </a:lnTo>
                <a:lnTo>
                  <a:pt x="0" y="16561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682219" y="5798718"/>
            <a:ext cx="1881176" cy="1881176"/>
          </a:xfrm>
          <a:custGeom>
            <a:avLst/>
            <a:gdLst/>
            <a:ahLst/>
            <a:cxnLst/>
            <a:rect l="l" t="t" r="r" b="b"/>
            <a:pathLst>
              <a:path w="1881176" h="1881176">
                <a:moveTo>
                  <a:pt x="0" y="0"/>
                </a:moveTo>
                <a:lnTo>
                  <a:pt x="1881176" y="0"/>
                </a:lnTo>
                <a:lnTo>
                  <a:pt x="1881176" y="1881176"/>
                </a:lnTo>
                <a:lnTo>
                  <a:pt x="0" y="188117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735299" y="3691713"/>
            <a:ext cx="1775016" cy="1775016"/>
          </a:xfrm>
          <a:custGeom>
            <a:avLst/>
            <a:gdLst/>
            <a:ahLst/>
            <a:cxnLst/>
            <a:rect l="l" t="t" r="r" b="b"/>
            <a:pathLst>
              <a:path w="1775016" h="1775016">
                <a:moveTo>
                  <a:pt x="0" y="0"/>
                </a:moveTo>
                <a:lnTo>
                  <a:pt x="1775016" y="0"/>
                </a:lnTo>
                <a:lnTo>
                  <a:pt x="1775016" y="1775017"/>
                </a:lnTo>
                <a:lnTo>
                  <a:pt x="0" y="177501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682219" y="8013269"/>
            <a:ext cx="1794467" cy="1794467"/>
          </a:xfrm>
          <a:custGeom>
            <a:avLst/>
            <a:gdLst/>
            <a:ahLst/>
            <a:cxnLst/>
            <a:rect l="l" t="t" r="r" b="b"/>
            <a:pathLst>
              <a:path w="1794467" h="1794467">
                <a:moveTo>
                  <a:pt x="0" y="0"/>
                </a:moveTo>
                <a:lnTo>
                  <a:pt x="1794467" y="0"/>
                </a:lnTo>
                <a:lnTo>
                  <a:pt x="1794467" y="1794468"/>
                </a:lnTo>
                <a:lnTo>
                  <a:pt x="0" y="179446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2830380" y="552450"/>
            <a:ext cx="16289188" cy="657225"/>
          </a:xfrm>
          <a:prstGeom prst="rect">
            <a:avLst/>
          </a:prstGeom>
        </p:spPr>
        <p:txBody>
          <a:bodyPr lIns="0" tIns="0" rIns="0" bIns="0" rtlCol="0" anchor="t">
            <a:spAutoFit/>
          </a:bodyPr>
          <a:lstStyle/>
          <a:p>
            <a:pPr algn="l">
              <a:lnSpc>
                <a:spcPts val="5224"/>
              </a:lnSpc>
            </a:pPr>
            <a:r>
              <a:rPr lang="en-US" sz="4353" b="1" u="sng">
                <a:solidFill>
                  <a:srgbClr val="F4B43C"/>
                </a:solidFill>
                <a:latin typeface="Aptos Bold"/>
                <a:ea typeface="Aptos Bold"/>
                <a:cs typeface="Aptos Bold"/>
                <a:sym typeface="Aptos Bold"/>
              </a:rPr>
              <a:t>Technology Stack</a:t>
            </a:r>
          </a:p>
        </p:txBody>
      </p:sp>
      <p:sp>
        <p:nvSpPr>
          <p:cNvPr id="8" name="TextBox 8"/>
          <p:cNvSpPr txBox="1"/>
          <p:nvPr/>
        </p:nvSpPr>
        <p:spPr>
          <a:xfrm>
            <a:off x="3945271" y="1353245"/>
            <a:ext cx="609124" cy="409575"/>
          </a:xfrm>
          <a:prstGeom prst="rect">
            <a:avLst/>
          </a:prstGeom>
        </p:spPr>
        <p:txBody>
          <a:bodyPr lIns="0" tIns="0" rIns="0" bIns="0" rtlCol="0" anchor="t">
            <a:spAutoFit/>
          </a:bodyPr>
          <a:lstStyle/>
          <a:p>
            <a:pPr algn="l">
              <a:lnSpc>
                <a:spcPts val="3242"/>
              </a:lnSpc>
            </a:pPr>
            <a:r>
              <a:rPr lang="en-US" sz="2702" b="1" u="sng">
                <a:solidFill>
                  <a:srgbClr val="F4B43C"/>
                </a:solidFill>
                <a:latin typeface="Aptos Bold"/>
                <a:ea typeface="Aptos Bold"/>
                <a:cs typeface="Aptos Bold"/>
                <a:sym typeface="Aptos Bold"/>
              </a:rPr>
              <a:t>C++</a:t>
            </a:r>
          </a:p>
        </p:txBody>
      </p:sp>
      <p:sp>
        <p:nvSpPr>
          <p:cNvPr id="9" name="TextBox 9"/>
          <p:cNvSpPr txBox="1"/>
          <p:nvPr/>
        </p:nvSpPr>
        <p:spPr>
          <a:xfrm>
            <a:off x="3945271" y="7808482"/>
            <a:ext cx="1317665" cy="409575"/>
          </a:xfrm>
          <a:prstGeom prst="rect">
            <a:avLst/>
          </a:prstGeom>
        </p:spPr>
        <p:txBody>
          <a:bodyPr lIns="0" tIns="0" rIns="0" bIns="0" rtlCol="0" anchor="t">
            <a:spAutoFit/>
          </a:bodyPr>
          <a:lstStyle/>
          <a:p>
            <a:pPr algn="l">
              <a:lnSpc>
                <a:spcPts val="3242"/>
              </a:lnSpc>
            </a:pPr>
            <a:r>
              <a:rPr lang="en-US" sz="2702" b="1" u="sng">
                <a:solidFill>
                  <a:srgbClr val="3FB950"/>
                </a:solidFill>
                <a:latin typeface="Aptos Bold"/>
                <a:ea typeface="Aptos Bold"/>
                <a:cs typeface="Aptos Bold"/>
                <a:sym typeface="Aptos Bold"/>
              </a:rPr>
              <a:t>VS Code</a:t>
            </a:r>
          </a:p>
        </p:txBody>
      </p:sp>
      <p:sp>
        <p:nvSpPr>
          <p:cNvPr id="10" name="TextBox 10"/>
          <p:cNvSpPr txBox="1"/>
          <p:nvPr/>
        </p:nvSpPr>
        <p:spPr>
          <a:xfrm>
            <a:off x="3945270" y="5798718"/>
            <a:ext cx="931529" cy="410369"/>
          </a:xfrm>
          <a:prstGeom prst="rect">
            <a:avLst/>
          </a:prstGeom>
        </p:spPr>
        <p:txBody>
          <a:bodyPr wrap="square" lIns="0" tIns="0" rIns="0" bIns="0" rtlCol="0" anchor="t">
            <a:spAutoFit/>
          </a:bodyPr>
          <a:lstStyle/>
          <a:p>
            <a:pPr algn="l">
              <a:lnSpc>
                <a:spcPts val="3242"/>
              </a:lnSpc>
            </a:pPr>
            <a:r>
              <a:rPr lang="en-US" sz="2702" b="1" u="sng" dirty="0">
                <a:solidFill>
                  <a:srgbClr val="F85149"/>
                </a:solidFill>
                <a:latin typeface="Aptos Bold"/>
                <a:ea typeface="Aptos Bold"/>
                <a:cs typeface="Aptos Bold"/>
                <a:sym typeface="Aptos Bold"/>
              </a:rPr>
              <a:t>Git</a:t>
            </a:r>
          </a:p>
        </p:txBody>
      </p:sp>
      <p:sp>
        <p:nvSpPr>
          <p:cNvPr id="11" name="TextBox 11"/>
          <p:cNvSpPr txBox="1"/>
          <p:nvPr/>
        </p:nvSpPr>
        <p:spPr>
          <a:xfrm>
            <a:off x="3945270" y="3707704"/>
            <a:ext cx="1317665" cy="410369"/>
          </a:xfrm>
          <a:prstGeom prst="rect">
            <a:avLst/>
          </a:prstGeom>
        </p:spPr>
        <p:txBody>
          <a:bodyPr wrap="square" lIns="0" tIns="0" rIns="0" bIns="0" rtlCol="0" anchor="t">
            <a:spAutoFit/>
          </a:bodyPr>
          <a:lstStyle/>
          <a:p>
            <a:pPr algn="l">
              <a:lnSpc>
                <a:spcPts val="3242"/>
              </a:lnSpc>
            </a:pPr>
            <a:r>
              <a:rPr lang="en-US" sz="2702" b="1" u="sng" dirty="0">
                <a:solidFill>
                  <a:srgbClr val="BC8CFF"/>
                </a:solidFill>
                <a:latin typeface="Aptos Bold"/>
                <a:ea typeface="Aptos Bold"/>
                <a:cs typeface="Aptos Bold"/>
                <a:sym typeface="Aptos Bold"/>
              </a:rPr>
              <a:t>GitHub</a:t>
            </a:r>
          </a:p>
        </p:txBody>
      </p:sp>
      <p:sp>
        <p:nvSpPr>
          <p:cNvPr id="13" name="TextBox 13"/>
          <p:cNvSpPr txBox="1"/>
          <p:nvPr/>
        </p:nvSpPr>
        <p:spPr>
          <a:xfrm>
            <a:off x="3831266" y="1906836"/>
            <a:ext cx="12660510" cy="1534167"/>
          </a:xfrm>
          <a:prstGeom prst="rect">
            <a:avLst/>
          </a:prstGeom>
        </p:spPr>
        <p:txBody>
          <a:bodyPr lIns="0" tIns="0" rIns="0" bIns="0" rtlCol="0" anchor="t">
            <a:spAutoFit/>
          </a:bodyPr>
          <a:lstStyle/>
          <a:p>
            <a:pPr algn="ctr">
              <a:lnSpc>
                <a:spcPts val="3082"/>
              </a:lnSpc>
            </a:pPr>
            <a:r>
              <a:rPr lang="en-US" sz="2201" b="1">
                <a:solidFill>
                  <a:srgbClr val="FFFFFF"/>
                </a:solidFill>
                <a:latin typeface="Canva Sans Bold"/>
                <a:ea typeface="Canva Sans Bold"/>
                <a:cs typeface="Canva Sans Bold"/>
                <a:sym typeface="Canva Sans Bold"/>
              </a:rPr>
              <a:t>The interpreter has been completely developed in C++. The language was selected because it supports Object-Oriented Programming, Standard Template Library (STL), exception handling, and efficient memory management. C++ also provides high execution speed and extensive support for implementing custom data structures and algorithms.</a:t>
            </a:r>
          </a:p>
        </p:txBody>
      </p:sp>
      <p:sp>
        <p:nvSpPr>
          <p:cNvPr id="14" name="TextBox 14"/>
          <p:cNvSpPr txBox="1"/>
          <p:nvPr/>
        </p:nvSpPr>
        <p:spPr>
          <a:xfrm>
            <a:off x="3831266" y="6363733"/>
            <a:ext cx="12660510" cy="1153747"/>
          </a:xfrm>
          <a:prstGeom prst="rect">
            <a:avLst/>
          </a:prstGeom>
        </p:spPr>
        <p:txBody>
          <a:bodyPr lIns="0" tIns="0" rIns="0" bIns="0" rtlCol="0" anchor="t">
            <a:spAutoFit/>
          </a:bodyPr>
          <a:lstStyle/>
          <a:p>
            <a:pPr algn="l">
              <a:lnSpc>
                <a:spcPts val="3082"/>
              </a:lnSpc>
            </a:pPr>
            <a:r>
              <a:rPr lang="en-US" sz="2201" b="1">
                <a:solidFill>
                  <a:srgbClr val="FFFFFF"/>
                </a:solidFill>
                <a:latin typeface="Canva Sans Bold"/>
                <a:ea typeface="Canva Sans Bold"/>
                <a:cs typeface="Canva Sans Bold"/>
                <a:sym typeface="Canva Sans Bold"/>
              </a:rPr>
              <a:t>Git was used for local version control. Throughout the project, Git was used to: </a:t>
            </a:r>
          </a:p>
          <a:p>
            <a:pPr algn="l">
              <a:lnSpc>
                <a:spcPts val="3082"/>
              </a:lnSpc>
            </a:pPr>
            <a:r>
              <a:rPr lang="en-US" sz="2201" b="1">
                <a:solidFill>
                  <a:srgbClr val="FFFFFF"/>
                </a:solidFill>
                <a:latin typeface="Canva Sans Bold"/>
                <a:ea typeface="Canva Sans Bold"/>
                <a:cs typeface="Canva Sans Bold"/>
                <a:sym typeface="Canva Sans Bold"/>
              </a:rPr>
              <a:t> Track changes in source code, Create commits after implementing new features,  Maintain different project versions,  Merge changes into the main branch, Maintain project history.</a:t>
            </a:r>
          </a:p>
        </p:txBody>
      </p:sp>
      <p:sp>
        <p:nvSpPr>
          <p:cNvPr id="15" name="TextBox 15"/>
          <p:cNvSpPr txBox="1"/>
          <p:nvPr/>
        </p:nvSpPr>
        <p:spPr>
          <a:xfrm>
            <a:off x="3945271" y="4317469"/>
            <a:ext cx="12660510" cy="1153747"/>
          </a:xfrm>
          <a:prstGeom prst="rect">
            <a:avLst/>
          </a:prstGeom>
        </p:spPr>
        <p:txBody>
          <a:bodyPr lIns="0" tIns="0" rIns="0" bIns="0" rtlCol="0" anchor="t">
            <a:spAutoFit/>
          </a:bodyPr>
          <a:lstStyle/>
          <a:p>
            <a:pPr algn="l">
              <a:lnSpc>
                <a:spcPts val="3082"/>
              </a:lnSpc>
            </a:pPr>
            <a:r>
              <a:rPr lang="en-US" sz="2201" b="1">
                <a:solidFill>
                  <a:srgbClr val="FFFFFF"/>
                </a:solidFill>
                <a:latin typeface="Canva Sans Bold"/>
                <a:ea typeface="Canva Sans Bold"/>
                <a:cs typeface="Canva Sans Bold"/>
                <a:sym typeface="Canva Sans Bold"/>
              </a:rPr>
              <a:t>GitHub was used as the remote repository for hosting the project. It provided collaboration features such as forks, pull requests, releases, repository documentation, and version management.</a:t>
            </a:r>
          </a:p>
        </p:txBody>
      </p:sp>
      <p:sp>
        <p:nvSpPr>
          <p:cNvPr id="16" name="TextBox 16"/>
          <p:cNvSpPr txBox="1"/>
          <p:nvPr/>
        </p:nvSpPr>
        <p:spPr>
          <a:xfrm>
            <a:off x="3945271" y="8503807"/>
            <a:ext cx="12660510" cy="1153747"/>
          </a:xfrm>
          <a:prstGeom prst="rect">
            <a:avLst/>
          </a:prstGeom>
        </p:spPr>
        <p:txBody>
          <a:bodyPr lIns="0" tIns="0" rIns="0" bIns="0" rtlCol="0" anchor="t">
            <a:spAutoFit/>
          </a:bodyPr>
          <a:lstStyle/>
          <a:p>
            <a:pPr algn="l">
              <a:lnSpc>
                <a:spcPts val="3082"/>
              </a:lnSpc>
            </a:pPr>
            <a:r>
              <a:rPr lang="en-US" sz="2201" b="1">
                <a:solidFill>
                  <a:srgbClr val="FFFFFF"/>
                </a:solidFill>
                <a:latin typeface="Canva Sans Bold"/>
                <a:ea typeface="Canva Sans Bold"/>
                <a:cs typeface="Canva Sans Bold"/>
                <a:sym typeface="Canva Sans Bold"/>
              </a:rPr>
              <a:t>Visual Studio Code was used as the primary code editor for writing, debugging, and managing the project. It provides syntax highlighting, IntelliSense, Git integration, and extension support, making development more efficient.</a:t>
            </a:r>
          </a:p>
        </p:txBody>
      </p:sp>
      <p:sp>
        <p:nvSpPr>
          <p:cNvPr id="20" name="Rectangle 19">
            <a:extLst>
              <a:ext uri="{FF2B5EF4-FFF2-40B4-BE49-F238E27FC236}">
                <a16:creationId xmlns:a16="http://schemas.microsoft.com/office/drawing/2014/main" id="{13216D5C-8B79-55D0-D9B2-073A3BB1587C}"/>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6</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1" y="1642859"/>
            <a:ext cx="18288001" cy="3500641"/>
          </a:xfrm>
          <a:custGeom>
            <a:avLst/>
            <a:gdLst/>
            <a:ahLst/>
            <a:cxnLst/>
            <a:rect l="l" t="t" r="r" b="b"/>
            <a:pathLst>
              <a:path w="19187703" h="3500641">
                <a:moveTo>
                  <a:pt x="0" y="0"/>
                </a:moveTo>
                <a:lnTo>
                  <a:pt x="19187703" y="0"/>
                </a:lnTo>
                <a:lnTo>
                  <a:pt x="19187703" y="3500641"/>
                </a:lnTo>
                <a:lnTo>
                  <a:pt x="0" y="3500641"/>
                </a:lnTo>
                <a:lnTo>
                  <a:pt x="0" y="0"/>
                </a:lnTo>
                <a:close/>
              </a:path>
            </a:pathLst>
          </a:custGeom>
          <a:blipFill>
            <a:blip r:embed="rId3"/>
            <a:stretch>
              <a:fillRect t="-24681" b="-10826"/>
            </a:stretch>
          </a:blipFill>
        </p:spPr>
      </p:sp>
      <p:sp>
        <p:nvSpPr>
          <p:cNvPr id="4" name="TextBox 4"/>
          <p:cNvSpPr txBox="1"/>
          <p:nvPr/>
        </p:nvSpPr>
        <p:spPr>
          <a:xfrm>
            <a:off x="1028700" y="738187"/>
            <a:ext cx="10842566" cy="590550"/>
          </a:xfrm>
          <a:prstGeom prst="rect">
            <a:avLst/>
          </a:prstGeom>
        </p:spPr>
        <p:txBody>
          <a:bodyPr lIns="0" tIns="0" rIns="0" bIns="0" rtlCol="0" anchor="t">
            <a:spAutoFit/>
          </a:bodyPr>
          <a:lstStyle/>
          <a:p>
            <a:pPr algn="l">
              <a:lnSpc>
                <a:spcPts val="4799"/>
              </a:lnSpc>
            </a:pPr>
            <a:r>
              <a:rPr lang="en-US" sz="3999" b="1" u="sng">
                <a:solidFill>
                  <a:srgbClr val="F4B43C"/>
                </a:solidFill>
                <a:latin typeface="Aptos Bold"/>
                <a:ea typeface="Aptos Bold"/>
                <a:cs typeface="Aptos Bold"/>
                <a:sym typeface="Aptos Bold"/>
              </a:rPr>
              <a:t>GITHUB WORKFLOW MANAGEMENT</a:t>
            </a:r>
          </a:p>
        </p:txBody>
      </p:sp>
      <p:sp>
        <p:nvSpPr>
          <p:cNvPr id="5" name="TextBox 5"/>
          <p:cNvSpPr txBox="1"/>
          <p:nvPr/>
        </p:nvSpPr>
        <p:spPr>
          <a:xfrm>
            <a:off x="756663" y="6524037"/>
            <a:ext cx="15720931" cy="3181303"/>
          </a:xfrm>
          <a:prstGeom prst="rect">
            <a:avLst/>
          </a:prstGeom>
        </p:spPr>
        <p:txBody>
          <a:bodyPr lIns="0" tIns="0" rIns="0" bIns="0" rtlCol="0" anchor="t">
            <a:spAutoFit/>
          </a:bodyPr>
          <a:lstStyle/>
          <a:p>
            <a:pPr algn="l">
              <a:lnSpc>
                <a:spcPts val="4202"/>
              </a:lnSpc>
            </a:pPr>
            <a:r>
              <a:rPr lang="en-US" sz="3001" b="1">
                <a:solidFill>
                  <a:srgbClr val="FFFFFF"/>
                </a:solidFill>
                <a:latin typeface="Canva Sans Bold"/>
                <a:ea typeface="Canva Sans Bold"/>
                <a:cs typeface="Canva Sans Bold"/>
                <a:sym typeface="Canva Sans Bold"/>
              </a:rPr>
              <a:t>The project primarily used the following branches:</a:t>
            </a:r>
          </a:p>
          <a:p>
            <a:pPr algn="l">
              <a:lnSpc>
                <a:spcPts val="4202"/>
              </a:lnSpc>
            </a:pPr>
            <a:r>
              <a:rPr lang="en-US" sz="3001" b="1">
                <a:solidFill>
                  <a:srgbClr val="FFFFFF"/>
                </a:solidFill>
                <a:latin typeface="Canva Sans Bold"/>
                <a:ea typeface="Canva Sans Bold"/>
                <a:cs typeface="Canva Sans Bold"/>
                <a:sym typeface="Canva Sans Bold"/>
              </a:rPr>
              <a:t> • main – Stable production-ready version of the project.</a:t>
            </a:r>
          </a:p>
          <a:p>
            <a:pPr algn="l">
              <a:lnSpc>
                <a:spcPts val="4202"/>
              </a:lnSpc>
            </a:pPr>
            <a:r>
              <a:rPr lang="en-US" sz="3001" b="1">
                <a:solidFill>
                  <a:srgbClr val="FFFFFF"/>
                </a:solidFill>
                <a:latin typeface="Canva Sans Bold"/>
                <a:ea typeface="Canva Sans Bold"/>
                <a:cs typeface="Canva Sans Bold"/>
                <a:sym typeface="Canva Sans Bold"/>
              </a:rPr>
              <a:t> • feature branches – Used for implementing new commands and improvements before merging into the main branch. </a:t>
            </a:r>
          </a:p>
          <a:p>
            <a:pPr algn="l">
              <a:lnSpc>
                <a:spcPts val="4202"/>
              </a:lnSpc>
            </a:pPr>
            <a:r>
              <a:rPr lang="en-US" sz="3001" b="1">
                <a:solidFill>
                  <a:srgbClr val="FFFFFF"/>
                </a:solidFill>
                <a:latin typeface="Canva Sans Bold"/>
                <a:ea typeface="Canva Sans Bold"/>
                <a:cs typeface="Canva Sans Bold"/>
                <a:sym typeface="Canva Sans Bold"/>
              </a:rPr>
              <a:t>Feature branches allowed independent development without affecting the stable codebase.</a:t>
            </a:r>
          </a:p>
        </p:txBody>
      </p:sp>
      <p:sp>
        <p:nvSpPr>
          <p:cNvPr id="6" name="TextBox 6"/>
          <p:cNvSpPr txBox="1"/>
          <p:nvPr/>
        </p:nvSpPr>
        <p:spPr>
          <a:xfrm>
            <a:off x="1028700" y="5683191"/>
            <a:ext cx="10842566" cy="590550"/>
          </a:xfrm>
          <a:prstGeom prst="rect">
            <a:avLst/>
          </a:prstGeom>
        </p:spPr>
        <p:txBody>
          <a:bodyPr lIns="0" tIns="0" rIns="0" bIns="0" rtlCol="0" anchor="t">
            <a:spAutoFit/>
          </a:bodyPr>
          <a:lstStyle/>
          <a:p>
            <a:pPr algn="l">
              <a:lnSpc>
                <a:spcPts val="4799"/>
              </a:lnSpc>
            </a:pPr>
            <a:r>
              <a:rPr lang="en-US" sz="3999" b="1" u="sng">
                <a:solidFill>
                  <a:srgbClr val="F4B43C"/>
                </a:solidFill>
                <a:latin typeface="Aptos Bold"/>
                <a:ea typeface="Aptos Bold"/>
                <a:cs typeface="Aptos Bold"/>
                <a:sym typeface="Aptos Bold"/>
              </a:rPr>
              <a:t>BRANCHING STRATEGY</a:t>
            </a:r>
          </a:p>
        </p:txBody>
      </p:sp>
      <p:sp>
        <p:nvSpPr>
          <p:cNvPr id="8" name="Rectangle 7">
            <a:extLst>
              <a:ext uri="{FF2B5EF4-FFF2-40B4-BE49-F238E27FC236}">
                <a16:creationId xmlns:a16="http://schemas.microsoft.com/office/drawing/2014/main" id="{EDBA2136-764F-0E62-FFF7-BEC418B789E0}"/>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7</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grpSp>
        <p:nvGrpSpPr>
          <p:cNvPr id="3" name="Group 3"/>
          <p:cNvGrpSpPr/>
          <p:nvPr/>
        </p:nvGrpSpPr>
        <p:grpSpPr>
          <a:xfrm>
            <a:off x="953719" y="2257758"/>
            <a:ext cx="5230454" cy="6603130"/>
            <a:chOff x="0" y="0"/>
            <a:chExt cx="6973938" cy="8804173"/>
          </a:xfrm>
        </p:grpSpPr>
        <p:sp>
          <p:nvSpPr>
            <p:cNvPr id="4" name="Freeform 4"/>
            <p:cNvSpPr/>
            <p:nvPr/>
          </p:nvSpPr>
          <p:spPr>
            <a:xfrm>
              <a:off x="0" y="0"/>
              <a:ext cx="6973951" cy="8804148"/>
            </a:xfrm>
            <a:custGeom>
              <a:avLst/>
              <a:gdLst/>
              <a:ahLst/>
              <a:cxnLst/>
              <a:rect l="l" t="t" r="r" b="b"/>
              <a:pathLst>
                <a:path w="6973951" h="8804148">
                  <a:moveTo>
                    <a:pt x="0" y="1162304"/>
                  </a:moveTo>
                  <a:cubicBezTo>
                    <a:pt x="0" y="520446"/>
                    <a:pt x="520446" y="0"/>
                    <a:pt x="1162304" y="0"/>
                  </a:cubicBezTo>
                  <a:lnTo>
                    <a:pt x="5811647" y="0"/>
                  </a:lnTo>
                  <a:cubicBezTo>
                    <a:pt x="6453632" y="0"/>
                    <a:pt x="6973951" y="520446"/>
                    <a:pt x="6973951" y="1162304"/>
                  </a:cubicBezTo>
                  <a:lnTo>
                    <a:pt x="6973951" y="7641844"/>
                  </a:lnTo>
                  <a:cubicBezTo>
                    <a:pt x="6973951" y="8283828"/>
                    <a:pt x="6453505" y="8804148"/>
                    <a:pt x="5811647" y="8804148"/>
                  </a:cubicBezTo>
                  <a:lnTo>
                    <a:pt x="1162304" y="8804148"/>
                  </a:lnTo>
                  <a:cubicBezTo>
                    <a:pt x="520446" y="8804148"/>
                    <a:pt x="0" y="8283829"/>
                    <a:pt x="0" y="7641844"/>
                  </a:cubicBezTo>
                  <a:close/>
                </a:path>
              </a:pathLst>
            </a:custGeom>
            <a:solidFill>
              <a:srgbClr val="252525"/>
            </a:solidFill>
            <a:ln w="14299" cap="sq">
              <a:solidFill>
                <a:srgbClr val="28303A"/>
              </a:solidFill>
              <a:prstDash val="solid"/>
              <a:miter/>
            </a:ln>
          </p:spPr>
        </p:sp>
      </p:grpSp>
      <p:sp>
        <p:nvSpPr>
          <p:cNvPr id="5" name="AutoShape 5"/>
          <p:cNvSpPr/>
          <p:nvPr/>
        </p:nvSpPr>
        <p:spPr>
          <a:xfrm rot="355320">
            <a:off x="6179410" y="5476399"/>
            <a:ext cx="461934" cy="0"/>
          </a:xfrm>
          <a:prstGeom prst="line">
            <a:avLst/>
          </a:prstGeom>
          <a:ln w="28575" cap="rnd">
            <a:solidFill>
              <a:srgbClr val="58A6FF"/>
            </a:solidFill>
            <a:prstDash val="solid"/>
            <a:headEnd type="none" w="sm" len="sm"/>
            <a:tailEnd type="none" w="sm" len="sm"/>
          </a:ln>
        </p:spPr>
      </p:sp>
      <p:grpSp>
        <p:nvGrpSpPr>
          <p:cNvPr id="6" name="Group 6"/>
          <p:cNvGrpSpPr/>
          <p:nvPr/>
        </p:nvGrpSpPr>
        <p:grpSpPr>
          <a:xfrm>
            <a:off x="6311937" y="2257758"/>
            <a:ext cx="5230454" cy="6603130"/>
            <a:chOff x="0" y="0"/>
            <a:chExt cx="6973938" cy="8804173"/>
          </a:xfrm>
        </p:grpSpPr>
        <p:sp>
          <p:nvSpPr>
            <p:cNvPr id="7" name="Freeform 7"/>
            <p:cNvSpPr/>
            <p:nvPr/>
          </p:nvSpPr>
          <p:spPr>
            <a:xfrm>
              <a:off x="0" y="0"/>
              <a:ext cx="6973951" cy="8804148"/>
            </a:xfrm>
            <a:custGeom>
              <a:avLst/>
              <a:gdLst/>
              <a:ahLst/>
              <a:cxnLst/>
              <a:rect l="l" t="t" r="r" b="b"/>
              <a:pathLst>
                <a:path w="6973951" h="8804148">
                  <a:moveTo>
                    <a:pt x="0" y="1162304"/>
                  </a:moveTo>
                  <a:cubicBezTo>
                    <a:pt x="0" y="520446"/>
                    <a:pt x="520446" y="0"/>
                    <a:pt x="1162304" y="0"/>
                  </a:cubicBezTo>
                  <a:lnTo>
                    <a:pt x="5811647" y="0"/>
                  </a:lnTo>
                  <a:cubicBezTo>
                    <a:pt x="6453632" y="0"/>
                    <a:pt x="6973951" y="520446"/>
                    <a:pt x="6973951" y="1162304"/>
                  </a:cubicBezTo>
                  <a:lnTo>
                    <a:pt x="6973951" y="7641844"/>
                  </a:lnTo>
                  <a:cubicBezTo>
                    <a:pt x="6973951" y="8283828"/>
                    <a:pt x="6453505" y="8804148"/>
                    <a:pt x="5811647" y="8804148"/>
                  </a:cubicBezTo>
                  <a:lnTo>
                    <a:pt x="1162304" y="8804148"/>
                  </a:lnTo>
                  <a:cubicBezTo>
                    <a:pt x="520446" y="8804148"/>
                    <a:pt x="0" y="8283829"/>
                    <a:pt x="0" y="7641844"/>
                  </a:cubicBezTo>
                  <a:close/>
                </a:path>
              </a:pathLst>
            </a:custGeom>
            <a:solidFill>
              <a:srgbClr val="2D343C"/>
            </a:solidFill>
            <a:ln w="14299" cap="sq">
              <a:solidFill>
                <a:srgbClr val="28303A"/>
              </a:solidFill>
              <a:prstDash val="solid"/>
              <a:miter/>
            </a:ln>
          </p:spPr>
        </p:sp>
      </p:grpSp>
      <p:sp>
        <p:nvSpPr>
          <p:cNvPr id="8" name="AutoShape 8"/>
          <p:cNvSpPr/>
          <p:nvPr/>
        </p:nvSpPr>
        <p:spPr>
          <a:xfrm rot="355320">
            <a:off x="11944636" y="5476399"/>
            <a:ext cx="461934" cy="0"/>
          </a:xfrm>
          <a:prstGeom prst="line">
            <a:avLst/>
          </a:prstGeom>
          <a:ln w="28575" cap="rnd">
            <a:solidFill>
              <a:srgbClr val="58A6FF"/>
            </a:solidFill>
            <a:prstDash val="solid"/>
            <a:headEnd type="none" w="sm" len="sm"/>
            <a:tailEnd type="none" w="sm" len="sm"/>
          </a:ln>
        </p:spPr>
      </p:sp>
      <p:grpSp>
        <p:nvGrpSpPr>
          <p:cNvPr id="9" name="Group 9"/>
          <p:cNvGrpSpPr/>
          <p:nvPr/>
        </p:nvGrpSpPr>
        <p:grpSpPr>
          <a:xfrm>
            <a:off x="11722046" y="2360355"/>
            <a:ext cx="5230454" cy="6603130"/>
            <a:chOff x="0" y="0"/>
            <a:chExt cx="6973938" cy="8804173"/>
          </a:xfrm>
        </p:grpSpPr>
        <p:sp>
          <p:nvSpPr>
            <p:cNvPr id="10" name="Freeform 10"/>
            <p:cNvSpPr/>
            <p:nvPr/>
          </p:nvSpPr>
          <p:spPr>
            <a:xfrm>
              <a:off x="0" y="0"/>
              <a:ext cx="6973951" cy="8804148"/>
            </a:xfrm>
            <a:custGeom>
              <a:avLst/>
              <a:gdLst/>
              <a:ahLst/>
              <a:cxnLst/>
              <a:rect l="l" t="t" r="r" b="b"/>
              <a:pathLst>
                <a:path w="6973951" h="8804148">
                  <a:moveTo>
                    <a:pt x="0" y="1162304"/>
                  </a:moveTo>
                  <a:cubicBezTo>
                    <a:pt x="0" y="520446"/>
                    <a:pt x="520446" y="0"/>
                    <a:pt x="1162304" y="0"/>
                  </a:cubicBezTo>
                  <a:lnTo>
                    <a:pt x="5811647" y="0"/>
                  </a:lnTo>
                  <a:cubicBezTo>
                    <a:pt x="6453632" y="0"/>
                    <a:pt x="6973951" y="520446"/>
                    <a:pt x="6973951" y="1162304"/>
                  </a:cubicBezTo>
                  <a:lnTo>
                    <a:pt x="6973951" y="7641844"/>
                  </a:lnTo>
                  <a:cubicBezTo>
                    <a:pt x="6973951" y="8283828"/>
                    <a:pt x="6453505" y="8804148"/>
                    <a:pt x="5811647" y="8804148"/>
                  </a:cubicBezTo>
                  <a:lnTo>
                    <a:pt x="1162304" y="8804148"/>
                  </a:lnTo>
                  <a:cubicBezTo>
                    <a:pt x="520446" y="8804148"/>
                    <a:pt x="0" y="8283829"/>
                    <a:pt x="0" y="7641844"/>
                  </a:cubicBezTo>
                  <a:close/>
                </a:path>
              </a:pathLst>
            </a:custGeom>
            <a:solidFill>
              <a:srgbClr val="1C242F"/>
            </a:solidFill>
            <a:ln w="14299" cap="sq">
              <a:solidFill>
                <a:srgbClr val="28303A"/>
              </a:solidFill>
              <a:prstDash val="solid"/>
              <a:miter/>
            </a:ln>
          </p:spPr>
        </p:sp>
      </p:grpSp>
      <p:sp>
        <p:nvSpPr>
          <p:cNvPr id="11" name="TextBox 11"/>
          <p:cNvSpPr txBox="1"/>
          <p:nvPr/>
        </p:nvSpPr>
        <p:spPr>
          <a:xfrm>
            <a:off x="3161948" y="1028700"/>
            <a:ext cx="16289188" cy="657225"/>
          </a:xfrm>
          <a:prstGeom prst="rect">
            <a:avLst/>
          </a:prstGeom>
        </p:spPr>
        <p:txBody>
          <a:bodyPr lIns="0" tIns="0" rIns="0" bIns="0" rtlCol="0" anchor="t">
            <a:spAutoFit/>
          </a:bodyPr>
          <a:lstStyle/>
          <a:p>
            <a:pPr algn="l">
              <a:lnSpc>
                <a:spcPts val="5224"/>
              </a:lnSpc>
            </a:pPr>
            <a:r>
              <a:rPr lang="en-US" sz="4353" b="1" u="sng">
                <a:solidFill>
                  <a:srgbClr val="F4B43C"/>
                </a:solidFill>
                <a:latin typeface="Aptos Bold"/>
                <a:ea typeface="Aptos Bold"/>
                <a:cs typeface="Aptos Bold"/>
                <a:sym typeface="Aptos Bold"/>
              </a:rPr>
              <a:t>Version Evolution</a:t>
            </a:r>
          </a:p>
        </p:txBody>
      </p:sp>
      <p:sp>
        <p:nvSpPr>
          <p:cNvPr id="12" name="TextBox 12"/>
          <p:cNvSpPr txBox="1"/>
          <p:nvPr/>
        </p:nvSpPr>
        <p:spPr>
          <a:xfrm>
            <a:off x="1464116" y="2724388"/>
            <a:ext cx="1697831" cy="676275"/>
          </a:xfrm>
          <a:prstGeom prst="rect">
            <a:avLst/>
          </a:prstGeom>
        </p:spPr>
        <p:txBody>
          <a:bodyPr lIns="0" tIns="0" rIns="0" bIns="0" rtlCol="0" anchor="t">
            <a:spAutoFit/>
          </a:bodyPr>
          <a:lstStyle/>
          <a:p>
            <a:pPr algn="l">
              <a:lnSpc>
                <a:spcPts val="4863"/>
              </a:lnSpc>
            </a:pPr>
            <a:r>
              <a:rPr lang="en-US" sz="4052" b="1">
                <a:solidFill>
                  <a:srgbClr val="F4B43C"/>
                </a:solidFill>
                <a:latin typeface="Consolas Bold"/>
                <a:ea typeface="Consolas Bold"/>
                <a:cs typeface="Consolas Bold"/>
                <a:sym typeface="Consolas Bold"/>
              </a:rPr>
              <a:t>v1.0.0</a:t>
            </a:r>
          </a:p>
        </p:txBody>
      </p:sp>
      <p:sp>
        <p:nvSpPr>
          <p:cNvPr id="13" name="TextBox 13"/>
          <p:cNvSpPr txBox="1"/>
          <p:nvPr/>
        </p:nvSpPr>
        <p:spPr>
          <a:xfrm>
            <a:off x="1334486" y="3638352"/>
            <a:ext cx="4846157" cy="4154984"/>
          </a:xfrm>
          <a:prstGeom prst="rect">
            <a:avLst/>
          </a:prstGeom>
        </p:spPr>
        <p:txBody>
          <a:bodyPr lIns="0" tIns="0" rIns="0" bIns="0" rtlCol="0" anchor="t">
            <a:spAutoFit/>
          </a:bodyPr>
          <a:lstStyle/>
          <a:p>
            <a:pPr algn="l">
              <a:lnSpc>
                <a:spcPts val="3620"/>
              </a:lnSpc>
            </a:pPr>
            <a:r>
              <a:rPr lang="en-US" sz="3016" dirty="0">
                <a:solidFill>
                  <a:srgbClr val="EBEDF0"/>
                </a:solidFill>
                <a:latin typeface="Aptos"/>
                <a:ea typeface="Aptos"/>
                <a:cs typeface="Aptos"/>
                <a:sym typeface="Aptos"/>
              </a:rPr>
              <a:t>The initial release implemented the core functionality of the </a:t>
            </a:r>
            <a:r>
              <a:rPr lang="en-US" sz="3016" dirty="0" err="1">
                <a:solidFill>
                  <a:srgbClr val="EBEDF0"/>
                </a:solidFill>
                <a:latin typeface="Aptos"/>
                <a:ea typeface="Aptos"/>
                <a:cs typeface="Aptos"/>
                <a:sym typeface="Aptos"/>
              </a:rPr>
              <a:t>MiniLang</a:t>
            </a:r>
            <a:r>
              <a:rPr lang="en-US" sz="3016" dirty="0">
                <a:solidFill>
                  <a:srgbClr val="EBEDF0"/>
                </a:solidFill>
                <a:latin typeface="Aptos"/>
                <a:ea typeface="Aptos"/>
                <a:cs typeface="Aptos"/>
                <a:sym typeface="Aptos"/>
              </a:rPr>
              <a:t> Interpreter, including – </a:t>
            </a:r>
          </a:p>
          <a:p>
            <a:pPr algn="l">
              <a:lnSpc>
                <a:spcPts val="3620"/>
              </a:lnSpc>
            </a:pPr>
            <a:r>
              <a:rPr lang="en-US" sz="3016" dirty="0">
                <a:solidFill>
                  <a:srgbClr val="EBEDF0"/>
                </a:solidFill>
                <a:latin typeface="Aptos"/>
                <a:ea typeface="Aptos"/>
                <a:cs typeface="Aptos"/>
                <a:sym typeface="Aptos"/>
              </a:rPr>
              <a:t>1) variable management, </a:t>
            </a:r>
          </a:p>
          <a:p>
            <a:pPr algn="l">
              <a:lnSpc>
                <a:spcPts val="3620"/>
              </a:lnSpc>
            </a:pPr>
            <a:r>
              <a:rPr lang="en-US" sz="3016" dirty="0">
                <a:solidFill>
                  <a:srgbClr val="EBEDF0"/>
                </a:solidFill>
                <a:latin typeface="Aptos"/>
                <a:ea typeface="Aptos"/>
                <a:cs typeface="Aptos"/>
                <a:sym typeface="Aptos"/>
              </a:rPr>
              <a:t>2) arithmetic operations,</a:t>
            </a:r>
          </a:p>
          <a:p>
            <a:pPr algn="l">
              <a:lnSpc>
                <a:spcPts val="3620"/>
              </a:lnSpc>
            </a:pPr>
            <a:r>
              <a:rPr lang="en-US" sz="3016">
                <a:solidFill>
                  <a:srgbClr val="EBEDF0"/>
                </a:solidFill>
                <a:latin typeface="Aptos"/>
                <a:ea typeface="Aptos"/>
                <a:cs typeface="Aptos"/>
                <a:sym typeface="Aptos"/>
              </a:rPr>
              <a:t>3</a:t>
            </a:r>
            <a:r>
              <a:rPr lang="en-US" sz="3016" dirty="0">
                <a:solidFill>
                  <a:srgbClr val="EBEDF0"/>
                </a:solidFill>
                <a:latin typeface="Aptos"/>
                <a:ea typeface="Aptos"/>
                <a:cs typeface="Aptos"/>
                <a:sym typeface="Aptos"/>
              </a:rPr>
              <a:t>) comparison operations, </a:t>
            </a:r>
          </a:p>
          <a:p>
            <a:pPr algn="l">
              <a:lnSpc>
                <a:spcPts val="3620"/>
              </a:lnSpc>
            </a:pPr>
            <a:r>
              <a:rPr lang="en-US" sz="3016" dirty="0">
                <a:solidFill>
                  <a:srgbClr val="EBEDF0"/>
                </a:solidFill>
                <a:latin typeface="Aptos"/>
                <a:ea typeface="Aptos"/>
                <a:cs typeface="Aptos"/>
                <a:sym typeface="Aptos"/>
              </a:rPr>
              <a:t>4) command execution,</a:t>
            </a:r>
          </a:p>
          <a:p>
            <a:pPr algn="l">
              <a:lnSpc>
                <a:spcPts val="3620"/>
              </a:lnSpc>
            </a:pPr>
            <a:r>
              <a:rPr lang="en-US" sz="3016" dirty="0">
                <a:solidFill>
                  <a:srgbClr val="EBEDF0"/>
                </a:solidFill>
                <a:latin typeface="Aptos"/>
                <a:ea typeface="Aptos"/>
                <a:cs typeface="Aptos"/>
                <a:sym typeface="Aptos"/>
              </a:rPr>
              <a:t>5) exception handling.</a:t>
            </a:r>
          </a:p>
        </p:txBody>
      </p:sp>
      <p:sp>
        <p:nvSpPr>
          <p:cNvPr id="14" name="TextBox 14"/>
          <p:cNvSpPr txBox="1"/>
          <p:nvPr/>
        </p:nvSpPr>
        <p:spPr>
          <a:xfrm>
            <a:off x="6974143" y="2724388"/>
            <a:ext cx="1697831" cy="676275"/>
          </a:xfrm>
          <a:prstGeom prst="rect">
            <a:avLst/>
          </a:prstGeom>
        </p:spPr>
        <p:txBody>
          <a:bodyPr lIns="0" tIns="0" rIns="0" bIns="0" rtlCol="0" anchor="t">
            <a:spAutoFit/>
          </a:bodyPr>
          <a:lstStyle/>
          <a:p>
            <a:pPr algn="l">
              <a:lnSpc>
                <a:spcPts val="4863"/>
              </a:lnSpc>
            </a:pPr>
            <a:r>
              <a:rPr lang="en-US" sz="4052" b="1">
                <a:solidFill>
                  <a:srgbClr val="3FB950"/>
                </a:solidFill>
                <a:latin typeface="Consolas Bold"/>
                <a:ea typeface="Consolas Bold"/>
                <a:cs typeface="Consolas Bold"/>
                <a:sym typeface="Consolas Bold"/>
              </a:rPr>
              <a:t>v1.1.0</a:t>
            </a:r>
          </a:p>
        </p:txBody>
      </p:sp>
      <p:sp>
        <p:nvSpPr>
          <p:cNvPr id="15" name="TextBox 15"/>
          <p:cNvSpPr txBox="1"/>
          <p:nvPr/>
        </p:nvSpPr>
        <p:spPr>
          <a:xfrm>
            <a:off x="6679801" y="3638352"/>
            <a:ext cx="4768966" cy="4114800"/>
          </a:xfrm>
          <a:prstGeom prst="rect">
            <a:avLst/>
          </a:prstGeom>
        </p:spPr>
        <p:txBody>
          <a:bodyPr lIns="0" tIns="0" rIns="0" bIns="0" rtlCol="0" anchor="t">
            <a:spAutoFit/>
          </a:bodyPr>
          <a:lstStyle/>
          <a:p>
            <a:pPr algn="l">
              <a:lnSpc>
                <a:spcPts val="3624"/>
              </a:lnSpc>
            </a:pPr>
            <a:r>
              <a:rPr lang="en-US" sz="3020">
                <a:solidFill>
                  <a:srgbClr val="EBEDF0"/>
                </a:solidFill>
                <a:latin typeface="Aptos"/>
                <a:ea typeface="Aptos"/>
                <a:cs typeface="Aptos"/>
                <a:sym typeface="Aptos"/>
              </a:rPr>
              <a:t>This version focused on improving usability by introducing: </a:t>
            </a:r>
          </a:p>
          <a:p>
            <a:pPr algn="l">
              <a:lnSpc>
                <a:spcPts val="3624"/>
              </a:lnSpc>
            </a:pPr>
            <a:r>
              <a:rPr lang="en-US" sz="3020">
                <a:solidFill>
                  <a:srgbClr val="EBEDF0"/>
                </a:solidFill>
                <a:latin typeface="Aptos"/>
                <a:ea typeface="Aptos"/>
                <a:cs typeface="Aptos"/>
                <a:sym typeface="Aptos"/>
              </a:rPr>
              <a:t>• Help command </a:t>
            </a:r>
          </a:p>
          <a:p>
            <a:pPr algn="l">
              <a:lnSpc>
                <a:spcPts val="3624"/>
              </a:lnSpc>
            </a:pPr>
            <a:r>
              <a:rPr lang="en-US" sz="3020">
                <a:solidFill>
                  <a:srgbClr val="EBEDF0"/>
                </a:solidFill>
                <a:latin typeface="Aptos"/>
                <a:ea typeface="Aptos"/>
                <a:cs typeface="Aptos"/>
                <a:sym typeface="Aptos"/>
              </a:rPr>
              <a:t>• About command </a:t>
            </a:r>
          </a:p>
          <a:p>
            <a:pPr algn="l">
              <a:lnSpc>
                <a:spcPts val="3624"/>
              </a:lnSpc>
            </a:pPr>
            <a:r>
              <a:rPr lang="en-US" sz="3020">
                <a:solidFill>
                  <a:srgbClr val="EBEDF0"/>
                </a:solidFill>
                <a:latin typeface="Aptos"/>
                <a:ea typeface="Aptos"/>
                <a:cs typeface="Aptos"/>
                <a:sym typeface="Aptos"/>
              </a:rPr>
              <a:t>• Clear command</a:t>
            </a:r>
          </a:p>
          <a:p>
            <a:pPr algn="l">
              <a:lnSpc>
                <a:spcPts val="3624"/>
              </a:lnSpc>
            </a:pPr>
            <a:r>
              <a:rPr lang="en-US" sz="3020">
                <a:solidFill>
                  <a:srgbClr val="EBEDF0"/>
                </a:solidFill>
                <a:latin typeface="Aptos"/>
                <a:ea typeface="Aptos"/>
                <a:cs typeface="Aptos"/>
                <a:sym typeface="Aptos"/>
              </a:rPr>
              <a:t>• Improved startup banner</a:t>
            </a:r>
          </a:p>
          <a:p>
            <a:pPr algn="l">
              <a:lnSpc>
                <a:spcPts val="3624"/>
              </a:lnSpc>
            </a:pPr>
            <a:r>
              <a:rPr lang="en-US" sz="3020">
                <a:solidFill>
                  <a:srgbClr val="EBEDF0"/>
                </a:solidFill>
                <a:latin typeface="Aptos"/>
                <a:ea typeface="Aptos"/>
                <a:cs typeface="Aptos"/>
                <a:sym typeface="Aptos"/>
              </a:rPr>
              <a:t>• Enhanced user interface</a:t>
            </a:r>
          </a:p>
          <a:p>
            <a:pPr algn="l">
              <a:lnSpc>
                <a:spcPts val="3624"/>
              </a:lnSpc>
            </a:pPr>
            <a:r>
              <a:rPr lang="en-US" sz="3020">
                <a:solidFill>
                  <a:srgbClr val="EBEDF0"/>
                </a:solidFill>
                <a:latin typeface="Aptos"/>
                <a:ea typeface="Aptos"/>
                <a:cs typeface="Aptos"/>
                <a:sym typeface="Aptos"/>
              </a:rPr>
              <a:t>• Better command guidance </a:t>
            </a:r>
          </a:p>
        </p:txBody>
      </p:sp>
      <p:sp>
        <p:nvSpPr>
          <p:cNvPr id="16" name="TextBox 16"/>
          <p:cNvSpPr txBox="1"/>
          <p:nvPr/>
        </p:nvSpPr>
        <p:spPr>
          <a:xfrm>
            <a:off x="12332965" y="2724388"/>
            <a:ext cx="1696760" cy="676275"/>
          </a:xfrm>
          <a:prstGeom prst="rect">
            <a:avLst/>
          </a:prstGeom>
        </p:spPr>
        <p:txBody>
          <a:bodyPr lIns="0" tIns="0" rIns="0" bIns="0" rtlCol="0" anchor="t">
            <a:spAutoFit/>
          </a:bodyPr>
          <a:lstStyle/>
          <a:p>
            <a:pPr algn="l">
              <a:lnSpc>
                <a:spcPts val="4860"/>
              </a:lnSpc>
            </a:pPr>
            <a:r>
              <a:rPr lang="en-US" sz="4050" b="1">
                <a:solidFill>
                  <a:srgbClr val="BC8CFF"/>
                </a:solidFill>
                <a:latin typeface="Consolas Bold"/>
                <a:ea typeface="Consolas Bold"/>
                <a:cs typeface="Consolas Bold"/>
                <a:sym typeface="Consolas Bold"/>
              </a:rPr>
              <a:t>v2.0.0</a:t>
            </a:r>
          </a:p>
        </p:txBody>
      </p:sp>
      <p:sp>
        <p:nvSpPr>
          <p:cNvPr id="17" name="TextBox 17"/>
          <p:cNvSpPr txBox="1"/>
          <p:nvPr/>
        </p:nvSpPr>
        <p:spPr>
          <a:xfrm>
            <a:off x="11945868" y="3638352"/>
            <a:ext cx="4799755" cy="4114800"/>
          </a:xfrm>
          <a:prstGeom prst="rect">
            <a:avLst/>
          </a:prstGeom>
        </p:spPr>
        <p:txBody>
          <a:bodyPr lIns="0" tIns="0" rIns="0" bIns="0" rtlCol="0" anchor="t">
            <a:spAutoFit/>
          </a:bodyPr>
          <a:lstStyle/>
          <a:p>
            <a:pPr algn="l">
              <a:lnSpc>
                <a:spcPts val="3624"/>
              </a:lnSpc>
            </a:pPr>
            <a:r>
              <a:rPr lang="en-US" sz="3020">
                <a:solidFill>
                  <a:srgbClr val="EBEDF0"/>
                </a:solidFill>
                <a:latin typeface="Aptos"/>
                <a:ea typeface="Aptos"/>
                <a:cs typeface="Aptos"/>
                <a:sym typeface="Aptos"/>
              </a:rPr>
              <a:t>The major release extended the interpreter with additional variable management features, including: </a:t>
            </a:r>
          </a:p>
          <a:p>
            <a:pPr algn="l">
              <a:lnSpc>
                <a:spcPts val="3624"/>
              </a:lnSpc>
            </a:pPr>
            <a:r>
              <a:rPr lang="en-US" sz="3020">
                <a:solidFill>
                  <a:srgbClr val="EBEDF0"/>
                </a:solidFill>
                <a:latin typeface="Aptos"/>
                <a:ea typeface="Aptos"/>
                <a:cs typeface="Aptos"/>
                <a:sym typeface="Aptos"/>
              </a:rPr>
              <a:t>• Count Variables </a:t>
            </a:r>
          </a:p>
          <a:p>
            <a:pPr algn="l">
              <a:lnSpc>
                <a:spcPts val="3624"/>
              </a:lnSpc>
            </a:pPr>
            <a:r>
              <a:rPr lang="en-US" sz="3020">
                <a:solidFill>
                  <a:srgbClr val="EBEDF0"/>
                </a:solidFill>
                <a:latin typeface="Aptos"/>
                <a:ea typeface="Aptos"/>
                <a:cs typeface="Aptos"/>
                <a:sym typeface="Aptos"/>
              </a:rPr>
              <a:t>• Clear All Variables </a:t>
            </a:r>
          </a:p>
          <a:p>
            <a:pPr algn="l">
              <a:lnSpc>
                <a:spcPts val="3624"/>
              </a:lnSpc>
            </a:pPr>
            <a:r>
              <a:rPr lang="en-US" sz="3020">
                <a:solidFill>
                  <a:srgbClr val="EBEDF0"/>
                </a:solidFill>
                <a:latin typeface="Aptos"/>
                <a:ea typeface="Aptos"/>
                <a:cs typeface="Aptos"/>
                <a:sym typeface="Aptos"/>
              </a:rPr>
              <a:t>• Type Command </a:t>
            </a:r>
          </a:p>
          <a:p>
            <a:pPr algn="l">
              <a:lnSpc>
                <a:spcPts val="3624"/>
              </a:lnSpc>
            </a:pPr>
            <a:r>
              <a:rPr lang="en-US" sz="3020">
                <a:solidFill>
                  <a:srgbClr val="EBEDF0"/>
                </a:solidFill>
                <a:latin typeface="Aptos"/>
                <a:ea typeface="Aptos"/>
                <a:cs typeface="Aptos"/>
                <a:sym typeface="Aptos"/>
              </a:rPr>
              <a:t>• Copy Variable</a:t>
            </a:r>
          </a:p>
        </p:txBody>
      </p:sp>
      <p:sp>
        <p:nvSpPr>
          <p:cNvPr id="20" name="Rectangle 19">
            <a:extLst>
              <a:ext uri="{FF2B5EF4-FFF2-40B4-BE49-F238E27FC236}">
                <a16:creationId xmlns:a16="http://schemas.microsoft.com/office/drawing/2014/main" id="{E25CF54B-0BB3-34F5-DC2E-F666CEEE3454}"/>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8</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0" y="1073884"/>
            <a:ext cx="8290637" cy="6342337"/>
          </a:xfrm>
          <a:custGeom>
            <a:avLst/>
            <a:gdLst/>
            <a:ahLst/>
            <a:cxnLst/>
            <a:rect l="l" t="t" r="r" b="b"/>
            <a:pathLst>
              <a:path w="8290637" h="6342337">
                <a:moveTo>
                  <a:pt x="0" y="0"/>
                </a:moveTo>
                <a:lnTo>
                  <a:pt x="8290637" y="0"/>
                </a:lnTo>
                <a:lnTo>
                  <a:pt x="8290637" y="6342337"/>
                </a:lnTo>
                <a:lnTo>
                  <a:pt x="0" y="634233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8290637" y="4451767"/>
            <a:ext cx="5145130" cy="5145130"/>
          </a:xfrm>
          <a:custGeom>
            <a:avLst/>
            <a:gdLst/>
            <a:ahLst/>
            <a:cxnLst/>
            <a:rect l="l" t="t" r="r" b="b"/>
            <a:pathLst>
              <a:path w="5145130" h="5145130">
                <a:moveTo>
                  <a:pt x="0" y="0"/>
                </a:moveTo>
                <a:lnTo>
                  <a:pt x="5145131" y="0"/>
                </a:lnTo>
                <a:lnTo>
                  <a:pt x="5145131" y="5145131"/>
                </a:lnTo>
                <a:lnTo>
                  <a:pt x="0" y="51451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2869510" y="4445806"/>
            <a:ext cx="5145130" cy="5145130"/>
          </a:xfrm>
          <a:custGeom>
            <a:avLst/>
            <a:gdLst/>
            <a:ahLst/>
            <a:cxnLst/>
            <a:rect l="l" t="t" r="r" b="b"/>
            <a:pathLst>
              <a:path w="5145130" h="5145130">
                <a:moveTo>
                  <a:pt x="0" y="0"/>
                </a:moveTo>
                <a:lnTo>
                  <a:pt x="5145131" y="0"/>
                </a:lnTo>
                <a:lnTo>
                  <a:pt x="5145131" y="5145131"/>
                </a:lnTo>
                <a:lnTo>
                  <a:pt x="0" y="514513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397416" y="1225907"/>
            <a:ext cx="2241949" cy="2241949"/>
          </a:xfrm>
          <a:custGeom>
            <a:avLst/>
            <a:gdLst/>
            <a:ahLst/>
            <a:cxnLst/>
            <a:rect l="l" t="t" r="r" b="b"/>
            <a:pathLst>
              <a:path w="2241949" h="2241949">
                <a:moveTo>
                  <a:pt x="0" y="0"/>
                </a:moveTo>
                <a:lnTo>
                  <a:pt x="2241949" y="0"/>
                </a:lnTo>
                <a:lnTo>
                  <a:pt x="2241949" y="2241949"/>
                </a:lnTo>
                <a:lnTo>
                  <a:pt x="0" y="22419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5793949" y="6683600"/>
            <a:ext cx="1909022" cy="1909022"/>
          </a:xfrm>
          <a:custGeom>
            <a:avLst/>
            <a:gdLst/>
            <a:ahLst/>
            <a:cxnLst/>
            <a:rect l="l" t="t" r="r" b="b"/>
            <a:pathLst>
              <a:path w="1909022" h="1909022">
                <a:moveTo>
                  <a:pt x="0" y="0"/>
                </a:moveTo>
                <a:lnTo>
                  <a:pt x="1909022" y="0"/>
                </a:lnTo>
                <a:lnTo>
                  <a:pt x="1909022" y="1909022"/>
                </a:lnTo>
                <a:lnTo>
                  <a:pt x="0" y="190902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7120795" y="311884"/>
            <a:ext cx="1687111" cy="1543706"/>
          </a:xfrm>
          <a:custGeom>
            <a:avLst/>
            <a:gdLst/>
            <a:ahLst/>
            <a:cxnLst/>
            <a:rect l="l" t="t" r="r" b="b"/>
            <a:pathLst>
              <a:path w="1687111" h="1543706">
                <a:moveTo>
                  <a:pt x="0" y="0"/>
                </a:moveTo>
                <a:lnTo>
                  <a:pt x="1687111" y="0"/>
                </a:lnTo>
                <a:lnTo>
                  <a:pt x="1687111" y="1543706"/>
                </a:lnTo>
                <a:lnTo>
                  <a:pt x="0" y="154370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9919682" y="1403029"/>
            <a:ext cx="2118546" cy="1641874"/>
          </a:xfrm>
          <a:custGeom>
            <a:avLst/>
            <a:gdLst/>
            <a:ahLst/>
            <a:cxnLst/>
            <a:rect l="l" t="t" r="r" b="b"/>
            <a:pathLst>
              <a:path w="2118546" h="1641874">
                <a:moveTo>
                  <a:pt x="0" y="0"/>
                </a:moveTo>
                <a:lnTo>
                  <a:pt x="2118546" y="0"/>
                </a:lnTo>
                <a:lnTo>
                  <a:pt x="2118546" y="1641873"/>
                </a:lnTo>
                <a:lnTo>
                  <a:pt x="0" y="164187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2869510" y="311884"/>
            <a:ext cx="2108806" cy="2034998"/>
          </a:xfrm>
          <a:custGeom>
            <a:avLst/>
            <a:gdLst/>
            <a:ahLst/>
            <a:cxnLst/>
            <a:rect l="l" t="t" r="r" b="b"/>
            <a:pathLst>
              <a:path w="2108806" h="2034998">
                <a:moveTo>
                  <a:pt x="0" y="0"/>
                </a:moveTo>
                <a:lnTo>
                  <a:pt x="2108806" y="0"/>
                </a:lnTo>
                <a:lnTo>
                  <a:pt x="2108806" y="2034998"/>
                </a:lnTo>
                <a:lnTo>
                  <a:pt x="0" y="2034998"/>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a:off x="233352" y="8398133"/>
            <a:ext cx="2810831" cy="1545957"/>
          </a:xfrm>
          <a:custGeom>
            <a:avLst/>
            <a:gdLst/>
            <a:ahLst/>
            <a:cxnLst/>
            <a:rect l="l" t="t" r="r" b="b"/>
            <a:pathLst>
              <a:path w="2810831" h="1545957">
                <a:moveTo>
                  <a:pt x="0" y="0"/>
                </a:moveTo>
                <a:lnTo>
                  <a:pt x="2810831" y="0"/>
                </a:lnTo>
                <a:lnTo>
                  <a:pt x="2810831" y="1545957"/>
                </a:lnTo>
                <a:lnTo>
                  <a:pt x="0" y="1545957"/>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2" name="TextBox 12"/>
          <p:cNvSpPr txBox="1"/>
          <p:nvPr/>
        </p:nvSpPr>
        <p:spPr>
          <a:xfrm>
            <a:off x="1584396" y="1754164"/>
            <a:ext cx="5121845" cy="4441293"/>
          </a:xfrm>
          <a:prstGeom prst="rect">
            <a:avLst/>
          </a:prstGeom>
        </p:spPr>
        <p:txBody>
          <a:bodyPr lIns="0" tIns="0" rIns="0" bIns="0" rtlCol="0" anchor="t">
            <a:spAutoFit/>
          </a:bodyPr>
          <a:lstStyle/>
          <a:p>
            <a:pPr algn="l">
              <a:lnSpc>
                <a:spcPts val="3470"/>
              </a:lnSpc>
            </a:pPr>
            <a:r>
              <a:rPr lang="en-US" sz="2892">
                <a:solidFill>
                  <a:srgbClr val="D2DCE6"/>
                </a:solidFill>
                <a:latin typeface="Consolas"/>
                <a:ea typeface="Consolas"/>
                <a:cs typeface="Consolas"/>
                <a:sym typeface="Consolas"/>
              </a:rPr>
              <a:t>MiniLang/</a:t>
            </a:r>
          </a:p>
          <a:p>
            <a:pPr algn="l">
              <a:lnSpc>
                <a:spcPts val="3470"/>
              </a:lnSpc>
            </a:pPr>
            <a:r>
              <a:rPr lang="en-US" sz="2892">
                <a:solidFill>
                  <a:srgbClr val="D2DCE6"/>
                </a:solidFill>
                <a:latin typeface="Consolas"/>
                <a:ea typeface="Consolas"/>
                <a:cs typeface="Consolas"/>
                <a:sym typeface="Consolas"/>
              </a:rPr>
              <a:t>│</a:t>
            </a:r>
          </a:p>
          <a:p>
            <a:pPr algn="l">
              <a:lnSpc>
                <a:spcPts val="3470"/>
              </a:lnSpc>
            </a:pPr>
            <a:r>
              <a:rPr lang="en-US" sz="2892">
                <a:solidFill>
                  <a:srgbClr val="D2DCE6"/>
                </a:solidFill>
                <a:latin typeface="Consolas"/>
                <a:ea typeface="Consolas"/>
                <a:cs typeface="Consolas"/>
                <a:sym typeface="Consolas"/>
              </a:rPr>
              <a:t>├── MINI-LANG 2.0.0.cpp</a:t>
            </a:r>
          </a:p>
          <a:p>
            <a:pPr algn="l">
              <a:lnSpc>
                <a:spcPts val="3470"/>
              </a:lnSpc>
            </a:pPr>
            <a:r>
              <a:rPr lang="en-US" sz="2892">
                <a:solidFill>
                  <a:srgbClr val="D2DCE6"/>
                </a:solidFill>
                <a:latin typeface="Consolas"/>
                <a:ea typeface="Consolas"/>
                <a:cs typeface="Consolas"/>
                <a:sym typeface="Consolas"/>
              </a:rPr>
              <a:t>├── README.md</a:t>
            </a:r>
          </a:p>
          <a:p>
            <a:pPr algn="l">
              <a:lnSpc>
                <a:spcPts val="3470"/>
              </a:lnSpc>
            </a:pPr>
            <a:r>
              <a:rPr lang="en-US" sz="2892">
                <a:solidFill>
                  <a:srgbClr val="D2DCE6"/>
                </a:solidFill>
                <a:latin typeface="Consolas"/>
                <a:ea typeface="Consolas"/>
                <a:cs typeface="Consolas"/>
                <a:sym typeface="Consolas"/>
              </a:rPr>
              <a:t>├── LICENSE</a:t>
            </a:r>
          </a:p>
          <a:p>
            <a:pPr algn="l">
              <a:lnSpc>
                <a:spcPts val="3470"/>
              </a:lnSpc>
            </a:pPr>
            <a:r>
              <a:rPr lang="en-US" sz="2892">
                <a:solidFill>
                  <a:srgbClr val="D2DCE6"/>
                </a:solidFill>
                <a:latin typeface="Consolas"/>
                <a:ea typeface="Consolas"/>
                <a:cs typeface="Consolas"/>
                <a:sym typeface="Consolas"/>
              </a:rPr>
              <a:t>├── CONTRIBUTING.md</a:t>
            </a:r>
          </a:p>
          <a:p>
            <a:pPr algn="l">
              <a:lnSpc>
                <a:spcPts val="3470"/>
              </a:lnSpc>
            </a:pPr>
            <a:r>
              <a:rPr lang="en-US" sz="2892">
                <a:solidFill>
                  <a:srgbClr val="D2DCE6"/>
                </a:solidFill>
                <a:latin typeface="Consolas"/>
                <a:ea typeface="Consolas"/>
                <a:cs typeface="Consolas"/>
                <a:sym typeface="Consolas"/>
              </a:rPr>
              <a:t>├── CHANGELOG.md</a:t>
            </a:r>
          </a:p>
          <a:p>
            <a:pPr algn="l">
              <a:lnSpc>
                <a:spcPts val="3470"/>
              </a:lnSpc>
            </a:pPr>
            <a:r>
              <a:rPr lang="en-US" sz="2892">
                <a:solidFill>
                  <a:srgbClr val="D2DCE6"/>
                </a:solidFill>
                <a:latin typeface="Consolas"/>
                <a:ea typeface="Consolas"/>
                <a:cs typeface="Consolas"/>
                <a:sym typeface="Consolas"/>
              </a:rPr>
              <a:t>├── CODE_OF_CONDUCT.md</a:t>
            </a:r>
          </a:p>
          <a:p>
            <a:pPr algn="l">
              <a:lnSpc>
                <a:spcPts val="3470"/>
              </a:lnSpc>
            </a:pPr>
            <a:r>
              <a:rPr lang="en-US" sz="2892">
                <a:solidFill>
                  <a:srgbClr val="D2DCE6"/>
                </a:solidFill>
                <a:latin typeface="Consolas"/>
                <a:ea typeface="Consolas"/>
                <a:cs typeface="Consolas"/>
                <a:sym typeface="Consolas"/>
              </a:rPr>
              <a:t>├── INSTALL-USE.md</a:t>
            </a:r>
          </a:p>
          <a:p>
            <a:pPr algn="l">
              <a:lnSpc>
                <a:spcPts val="3470"/>
              </a:lnSpc>
            </a:pPr>
            <a:r>
              <a:rPr lang="en-US" sz="2892">
                <a:solidFill>
                  <a:srgbClr val="D2DCE6"/>
                </a:solidFill>
                <a:latin typeface="Consolas"/>
                <a:ea typeface="Consolas"/>
                <a:cs typeface="Consolas"/>
                <a:sym typeface="Consolas"/>
              </a:rPr>
              <a:t>└── ARCHITECTURE.md</a:t>
            </a:r>
          </a:p>
        </p:txBody>
      </p:sp>
      <p:sp>
        <p:nvSpPr>
          <p:cNvPr id="13" name="TextBox 13"/>
          <p:cNvSpPr txBox="1"/>
          <p:nvPr/>
        </p:nvSpPr>
        <p:spPr>
          <a:xfrm>
            <a:off x="8502630" y="3261142"/>
            <a:ext cx="10842566" cy="1190625"/>
          </a:xfrm>
          <a:prstGeom prst="rect">
            <a:avLst/>
          </a:prstGeom>
        </p:spPr>
        <p:txBody>
          <a:bodyPr lIns="0" tIns="0" rIns="0" bIns="0" rtlCol="0" anchor="t">
            <a:spAutoFit/>
          </a:bodyPr>
          <a:lstStyle/>
          <a:p>
            <a:pPr algn="l">
              <a:lnSpc>
                <a:spcPts val="4799"/>
              </a:lnSpc>
            </a:pPr>
            <a:r>
              <a:rPr lang="en-US" sz="3999" b="1" u="sng">
                <a:solidFill>
                  <a:srgbClr val="F4B43C"/>
                </a:solidFill>
                <a:latin typeface="Aptos Bold"/>
                <a:ea typeface="Aptos Bold"/>
                <a:cs typeface="Aptos Bold"/>
                <a:sym typeface="Aptos Bold"/>
              </a:rPr>
              <a:t>WHY THESE FILES MATTER ? </a:t>
            </a:r>
          </a:p>
          <a:p>
            <a:pPr algn="l">
              <a:lnSpc>
                <a:spcPts val="4799"/>
              </a:lnSpc>
            </a:pPr>
            <a:r>
              <a:rPr lang="en-US" sz="3999" b="1" u="sng">
                <a:solidFill>
                  <a:srgbClr val="F4B43C"/>
                </a:solidFill>
                <a:latin typeface="Aptos Bold"/>
                <a:ea typeface="Aptos Bold"/>
                <a:cs typeface="Aptos Bold"/>
                <a:sym typeface="Aptos Bold"/>
              </a:rPr>
              <a:t>WHY DOCUMENTATION NEEDED ?</a:t>
            </a:r>
          </a:p>
        </p:txBody>
      </p:sp>
      <p:sp>
        <p:nvSpPr>
          <p:cNvPr id="14" name="TextBox 14"/>
          <p:cNvSpPr txBox="1"/>
          <p:nvPr/>
        </p:nvSpPr>
        <p:spPr>
          <a:xfrm>
            <a:off x="16700773" y="9782165"/>
            <a:ext cx="503453" cy="192624"/>
          </a:xfrm>
          <a:prstGeom prst="rect">
            <a:avLst/>
          </a:prstGeom>
        </p:spPr>
        <p:txBody>
          <a:bodyPr lIns="0" tIns="0" rIns="0" bIns="0" rtlCol="0" anchor="t">
            <a:spAutoFit/>
          </a:bodyPr>
          <a:lstStyle/>
          <a:p>
            <a:pPr algn="r">
              <a:lnSpc>
                <a:spcPts val="1621"/>
              </a:lnSpc>
            </a:pPr>
            <a:r>
              <a:rPr lang="en-US" sz="1351">
                <a:solidFill>
                  <a:srgbClr val="A0AAB4"/>
                </a:solidFill>
                <a:latin typeface="Aptos"/>
                <a:ea typeface="Aptos"/>
                <a:cs typeface="Aptos"/>
                <a:sym typeface="Aptos"/>
              </a:rPr>
              <a:t>11</a:t>
            </a:r>
          </a:p>
        </p:txBody>
      </p:sp>
      <p:sp>
        <p:nvSpPr>
          <p:cNvPr id="15" name="TextBox 15"/>
          <p:cNvSpPr txBox="1"/>
          <p:nvPr/>
        </p:nvSpPr>
        <p:spPr>
          <a:xfrm>
            <a:off x="663311" y="311884"/>
            <a:ext cx="16289188" cy="762000"/>
          </a:xfrm>
          <a:prstGeom prst="rect">
            <a:avLst/>
          </a:prstGeom>
        </p:spPr>
        <p:txBody>
          <a:bodyPr lIns="0" tIns="0" rIns="0" bIns="0" rtlCol="0" anchor="t">
            <a:spAutoFit/>
          </a:bodyPr>
          <a:lstStyle/>
          <a:p>
            <a:pPr algn="l">
              <a:lnSpc>
                <a:spcPts val="6064"/>
              </a:lnSpc>
            </a:pPr>
            <a:r>
              <a:rPr lang="en-US" sz="5053" b="1" u="sng">
                <a:solidFill>
                  <a:srgbClr val="F4B43C"/>
                </a:solidFill>
                <a:latin typeface="Aptos Bold"/>
                <a:ea typeface="Aptos Bold"/>
                <a:cs typeface="Aptos Bold"/>
                <a:sym typeface="Aptos Bold"/>
              </a:rPr>
              <a:t>Repository Structure</a:t>
            </a:r>
          </a:p>
        </p:txBody>
      </p:sp>
      <p:sp>
        <p:nvSpPr>
          <p:cNvPr id="16" name="TextBox 16"/>
          <p:cNvSpPr txBox="1"/>
          <p:nvPr/>
        </p:nvSpPr>
        <p:spPr>
          <a:xfrm>
            <a:off x="8502630" y="4657167"/>
            <a:ext cx="9200341" cy="4722409"/>
          </a:xfrm>
          <a:prstGeom prst="rect">
            <a:avLst/>
          </a:prstGeom>
        </p:spPr>
        <p:txBody>
          <a:bodyPr lIns="0" tIns="0" rIns="0" bIns="0" rtlCol="0" anchor="t">
            <a:spAutoFit/>
          </a:bodyPr>
          <a:lstStyle/>
          <a:p>
            <a:pPr algn="l">
              <a:lnSpc>
                <a:spcPts val="3721"/>
              </a:lnSpc>
            </a:pPr>
            <a:r>
              <a:rPr lang="en-US" sz="3101">
                <a:solidFill>
                  <a:srgbClr val="EBEDF0"/>
                </a:solidFill>
                <a:latin typeface="Aptos"/>
                <a:ea typeface="Aptos"/>
                <a:cs typeface="Aptos"/>
                <a:sym typeface="Aptos"/>
              </a:rPr>
              <a:t>DOCUMENTATION IS NEEDED SO AS TO MAKE THE USERS WHO VISIT THE REPOSITORY UNDERSTAND INFORMATION ABOUT THE REPOSITORY. </a:t>
            </a:r>
          </a:p>
          <a:p>
            <a:pPr algn="l">
              <a:lnSpc>
                <a:spcPts val="3721"/>
              </a:lnSpc>
            </a:pPr>
            <a:r>
              <a:rPr lang="en-US" sz="3101">
                <a:solidFill>
                  <a:srgbClr val="EBEDF0"/>
                </a:solidFill>
                <a:latin typeface="Aptos"/>
                <a:ea typeface="Aptos"/>
                <a:cs typeface="Aptos"/>
                <a:sym typeface="Aptos"/>
              </a:rPr>
              <a:t>• README → overview, features &amp; usage</a:t>
            </a:r>
          </a:p>
          <a:p>
            <a:pPr algn="l">
              <a:lnSpc>
                <a:spcPts val="3721"/>
              </a:lnSpc>
            </a:pPr>
            <a:r>
              <a:rPr lang="en-US" sz="3101">
                <a:solidFill>
                  <a:srgbClr val="EBEDF0"/>
                </a:solidFill>
                <a:latin typeface="Aptos"/>
                <a:ea typeface="Aptos"/>
                <a:cs typeface="Aptos"/>
                <a:sym typeface="Aptos"/>
              </a:rPr>
              <a:t>• LICENSE → permissions and limitations</a:t>
            </a:r>
          </a:p>
          <a:p>
            <a:pPr algn="l">
              <a:lnSpc>
                <a:spcPts val="3721"/>
              </a:lnSpc>
            </a:pPr>
            <a:r>
              <a:rPr lang="en-US" sz="3101">
                <a:solidFill>
                  <a:srgbClr val="EBEDF0"/>
                </a:solidFill>
                <a:latin typeface="Aptos"/>
                <a:ea typeface="Aptos"/>
                <a:cs typeface="Aptos"/>
                <a:sym typeface="Aptos"/>
              </a:rPr>
              <a:t>• CONTRIBUTING → contribution &amp; PR rules</a:t>
            </a:r>
          </a:p>
          <a:p>
            <a:pPr algn="l">
              <a:lnSpc>
                <a:spcPts val="3721"/>
              </a:lnSpc>
            </a:pPr>
            <a:r>
              <a:rPr lang="en-US" sz="3101">
                <a:solidFill>
                  <a:srgbClr val="EBEDF0"/>
                </a:solidFill>
                <a:latin typeface="Aptos"/>
                <a:ea typeface="Aptos"/>
                <a:cs typeface="Aptos"/>
                <a:sym typeface="Aptos"/>
              </a:rPr>
              <a:t>• CHANGELOG → release history</a:t>
            </a:r>
          </a:p>
          <a:p>
            <a:pPr algn="l">
              <a:lnSpc>
                <a:spcPts val="3721"/>
              </a:lnSpc>
            </a:pPr>
            <a:r>
              <a:rPr lang="en-US" sz="3101">
                <a:solidFill>
                  <a:srgbClr val="EBEDF0"/>
                </a:solidFill>
                <a:latin typeface="Aptos"/>
                <a:ea typeface="Aptos"/>
                <a:cs typeface="Aptos"/>
                <a:sym typeface="Aptos"/>
              </a:rPr>
              <a:t>• ARCHITECTURE → system design</a:t>
            </a:r>
          </a:p>
          <a:p>
            <a:pPr algn="l">
              <a:lnSpc>
                <a:spcPts val="3721"/>
              </a:lnSpc>
            </a:pPr>
            <a:r>
              <a:rPr lang="en-US" sz="3101">
                <a:solidFill>
                  <a:srgbClr val="EBEDF0"/>
                </a:solidFill>
                <a:latin typeface="Aptos"/>
                <a:ea typeface="Aptos"/>
                <a:cs typeface="Aptos"/>
                <a:sym typeface="Aptos"/>
              </a:rPr>
              <a:t>• INSTALL-USE → setup and usage</a:t>
            </a:r>
          </a:p>
          <a:p>
            <a:pPr algn="l">
              <a:lnSpc>
                <a:spcPts val="3721"/>
              </a:lnSpc>
            </a:pPr>
            <a:r>
              <a:rPr lang="en-US" sz="3101">
                <a:solidFill>
                  <a:srgbClr val="EBEDF0"/>
                </a:solidFill>
                <a:latin typeface="Aptos"/>
                <a:ea typeface="Aptos"/>
                <a:cs typeface="Aptos"/>
                <a:sym typeface="Aptos"/>
              </a:rPr>
              <a:t>• CODE_OF_CONDUCT → contributor expectations</a:t>
            </a:r>
          </a:p>
        </p:txBody>
      </p:sp>
      <p:sp>
        <p:nvSpPr>
          <p:cNvPr id="17" name="TextBox 17"/>
          <p:cNvSpPr txBox="1"/>
          <p:nvPr/>
        </p:nvSpPr>
        <p:spPr>
          <a:xfrm>
            <a:off x="358036" y="7526177"/>
            <a:ext cx="16289188" cy="762000"/>
          </a:xfrm>
          <a:prstGeom prst="rect">
            <a:avLst/>
          </a:prstGeom>
        </p:spPr>
        <p:txBody>
          <a:bodyPr lIns="0" tIns="0" rIns="0" bIns="0" rtlCol="0" anchor="t">
            <a:spAutoFit/>
          </a:bodyPr>
          <a:lstStyle/>
          <a:p>
            <a:pPr algn="l">
              <a:lnSpc>
                <a:spcPts val="6064"/>
              </a:lnSpc>
            </a:pPr>
            <a:r>
              <a:rPr lang="en-US" sz="5053" b="1" u="sng">
                <a:solidFill>
                  <a:srgbClr val="F4B43C"/>
                </a:solidFill>
                <a:latin typeface="Aptos Bold"/>
                <a:ea typeface="Aptos Bold"/>
                <a:cs typeface="Aptos Bold"/>
                <a:sym typeface="Aptos Bold"/>
              </a:rPr>
              <a:t>Repository Link</a:t>
            </a:r>
          </a:p>
        </p:txBody>
      </p:sp>
      <p:sp>
        <p:nvSpPr>
          <p:cNvPr id="18" name="Freeform 18"/>
          <p:cNvSpPr/>
          <p:nvPr/>
        </p:nvSpPr>
        <p:spPr>
          <a:xfrm>
            <a:off x="2510940" y="8398133"/>
            <a:ext cx="2810831" cy="1545957"/>
          </a:xfrm>
          <a:custGeom>
            <a:avLst/>
            <a:gdLst/>
            <a:ahLst/>
            <a:cxnLst/>
            <a:rect l="l" t="t" r="r" b="b"/>
            <a:pathLst>
              <a:path w="2810831" h="1545957">
                <a:moveTo>
                  <a:pt x="0" y="0"/>
                </a:moveTo>
                <a:lnTo>
                  <a:pt x="2810831" y="0"/>
                </a:lnTo>
                <a:lnTo>
                  <a:pt x="2810831" y="1545957"/>
                </a:lnTo>
                <a:lnTo>
                  <a:pt x="0" y="1545957"/>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9" name="Freeform 19"/>
          <p:cNvSpPr/>
          <p:nvPr/>
        </p:nvSpPr>
        <p:spPr>
          <a:xfrm>
            <a:off x="5242071" y="8398133"/>
            <a:ext cx="2810831" cy="1545957"/>
          </a:xfrm>
          <a:custGeom>
            <a:avLst/>
            <a:gdLst/>
            <a:ahLst/>
            <a:cxnLst/>
            <a:rect l="l" t="t" r="r" b="b"/>
            <a:pathLst>
              <a:path w="2810831" h="1545957">
                <a:moveTo>
                  <a:pt x="0" y="0"/>
                </a:moveTo>
                <a:lnTo>
                  <a:pt x="2810831" y="0"/>
                </a:lnTo>
                <a:lnTo>
                  <a:pt x="2810831" y="1545957"/>
                </a:lnTo>
                <a:lnTo>
                  <a:pt x="0" y="1545957"/>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2" name="TextBox 21">
            <a:extLst>
              <a:ext uri="{FF2B5EF4-FFF2-40B4-BE49-F238E27FC236}">
                <a16:creationId xmlns:a16="http://schemas.microsoft.com/office/drawing/2014/main" id="{4E7CC625-1400-B363-7DB5-905A5CCA0847}"/>
              </a:ext>
            </a:extLst>
          </p:cNvPr>
          <p:cNvSpPr txBox="1"/>
          <p:nvPr/>
        </p:nvSpPr>
        <p:spPr>
          <a:xfrm>
            <a:off x="397226" y="8986445"/>
            <a:ext cx="9689690" cy="369332"/>
          </a:xfrm>
          <a:prstGeom prst="rect">
            <a:avLst/>
          </a:prstGeom>
          <a:noFill/>
        </p:spPr>
        <p:txBody>
          <a:bodyPr wrap="square">
            <a:spAutoFit/>
          </a:bodyPr>
          <a:lstStyle/>
          <a:p>
            <a:r>
              <a:rPr lang="en-IN" dirty="0">
                <a:solidFill>
                  <a:schemeClr val="bg1"/>
                </a:solidFill>
              </a:rPr>
              <a:t>https://github.com/RAGHAV4056/MiniLang-Interpreter.git</a:t>
            </a:r>
          </a:p>
        </p:txBody>
      </p:sp>
      <p:sp>
        <p:nvSpPr>
          <p:cNvPr id="24" name="Rectangle 23">
            <a:extLst>
              <a:ext uri="{FF2B5EF4-FFF2-40B4-BE49-F238E27FC236}">
                <a16:creationId xmlns:a16="http://schemas.microsoft.com/office/drawing/2014/main" id="{D5AE51E8-FCCA-6411-112A-76692908A712}"/>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9</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1028700" y="1501250"/>
            <a:ext cx="8473540" cy="8473540"/>
          </a:xfrm>
          <a:custGeom>
            <a:avLst/>
            <a:gdLst/>
            <a:ahLst/>
            <a:cxnLst/>
            <a:rect l="l" t="t" r="r" b="b"/>
            <a:pathLst>
              <a:path w="8473540" h="8473540">
                <a:moveTo>
                  <a:pt x="0" y="0"/>
                </a:moveTo>
                <a:lnTo>
                  <a:pt x="8473540" y="0"/>
                </a:lnTo>
                <a:lnTo>
                  <a:pt x="8473540" y="8473540"/>
                </a:lnTo>
                <a:lnTo>
                  <a:pt x="0" y="847354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6700773" y="9782165"/>
            <a:ext cx="503453" cy="192624"/>
          </a:xfrm>
          <a:prstGeom prst="rect">
            <a:avLst/>
          </a:prstGeom>
        </p:spPr>
        <p:txBody>
          <a:bodyPr lIns="0" tIns="0" rIns="0" bIns="0" rtlCol="0" anchor="t">
            <a:spAutoFit/>
          </a:bodyPr>
          <a:lstStyle/>
          <a:p>
            <a:pPr algn="r">
              <a:lnSpc>
                <a:spcPts val="1621"/>
              </a:lnSpc>
            </a:pPr>
            <a:r>
              <a:rPr lang="en-US" sz="1351">
                <a:solidFill>
                  <a:srgbClr val="A0AAB4"/>
                </a:solidFill>
                <a:latin typeface="Aptos"/>
                <a:ea typeface="Aptos"/>
                <a:cs typeface="Aptos"/>
                <a:sym typeface="Aptos"/>
              </a:rPr>
              <a:t>13</a:t>
            </a:r>
          </a:p>
        </p:txBody>
      </p:sp>
      <p:sp>
        <p:nvSpPr>
          <p:cNvPr id="5" name="Freeform 5"/>
          <p:cNvSpPr/>
          <p:nvPr/>
        </p:nvSpPr>
        <p:spPr>
          <a:xfrm>
            <a:off x="8730686" y="1409700"/>
            <a:ext cx="8473540" cy="8473540"/>
          </a:xfrm>
          <a:custGeom>
            <a:avLst/>
            <a:gdLst/>
            <a:ahLst/>
            <a:cxnLst/>
            <a:rect l="l" t="t" r="r" b="b"/>
            <a:pathLst>
              <a:path w="8473540" h="8473540">
                <a:moveTo>
                  <a:pt x="0" y="0"/>
                </a:moveTo>
                <a:lnTo>
                  <a:pt x="8473540" y="0"/>
                </a:lnTo>
                <a:lnTo>
                  <a:pt x="8473540" y="8473540"/>
                </a:lnTo>
                <a:lnTo>
                  <a:pt x="0" y="847354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497304" y="1510775"/>
            <a:ext cx="15203469" cy="8171340"/>
          </a:xfrm>
          <a:prstGeom prst="rect">
            <a:avLst/>
          </a:prstGeom>
        </p:spPr>
        <p:txBody>
          <a:bodyPr lIns="0" tIns="0" rIns="0" bIns="0" rtlCol="0" anchor="t">
            <a:spAutoFit/>
          </a:bodyPr>
          <a:lstStyle/>
          <a:p>
            <a:pPr algn="l">
              <a:lnSpc>
                <a:spcPts val="4383"/>
              </a:lnSpc>
              <a:spcBef>
                <a:spcPct val="0"/>
              </a:spcBef>
            </a:pPr>
            <a:r>
              <a:rPr lang="en-US" sz="3652" u="sng">
                <a:solidFill>
                  <a:srgbClr val="F4B43C"/>
                </a:solidFill>
                <a:latin typeface="Aptos"/>
                <a:ea typeface="Aptos"/>
                <a:cs typeface="Aptos"/>
                <a:sym typeface="Aptos"/>
              </a:rPr>
              <a:t>9.1 Command Parsing </a:t>
            </a:r>
          </a:p>
          <a:p>
            <a:pPr algn="l">
              <a:lnSpc>
                <a:spcPts val="3068"/>
              </a:lnSpc>
              <a:spcBef>
                <a:spcPct val="0"/>
              </a:spcBef>
            </a:pPr>
            <a:r>
              <a:rPr lang="en-US" sz="2557">
                <a:solidFill>
                  <a:srgbClr val="FFFFFF"/>
                </a:solidFill>
                <a:latin typeface="Aptos"/>
                <a:ea typeface="Aptos"/>
                <a:cs typeface="Aptos"/>
                <a:sym typeface="Aptos"/>
              </a:rPr>
              <a:t>Designing a parser capable of recognizing multiple command formats while maintaining simplicity required careful planning. Different commands had different syntax, making validation an important aspect of the interpreter. </a:t>
            </a:r>
          </a:p>
          <a:p>
            <a:pPr algn="l">
              <a:lnSpc>
                <a:spcPts val="4383"/>
              </a:lnSpc>
              <a:spcBef>
                <a:spcPct val="0"/>
              </a:spcBef>
            </a:pPr>
            <a:r>
              <a:rPr lang="en-US" sz="3652" u="sng">
                <a:solidFill>
                  <a:srgbClr val="F4B43C"/>
                </a:solidFill>
                <a:latin typeface="Aptos"/>
                <a:ea typeface="Aptos"/>
                <a:cs typeface="Aptos"/>
                <a:sym typeface="Aptos"/>
              </a:rPr>
              <a:t>9.2 Managing Multiple Data Types </a:t>
            </a:r>
          </a:p>
          <a:p>
            <a:pPr algn="l">
              <a:lnSpc>
                <a:spcPts val="3068"/>
              </a:lnSpc>
              <a:spcBef>
                <a:spcPct val="0"/>
              </a:spcBef>
            </a:pPr>
            <a:r>
              <a:rPr lang="en-US" sz="2557">
                <a:solidFill>
                  <a:srgbClr val="FFFFFF"/>
                </a:solidFill>
                <a:latin typeface="Aptos"/>
                <a:ea typeface="Aptos"/>
                <a:cs typeface="Aptos"/>
                <a:sym typeface="Aptos"/>
              </a:rPr>
              <a:t>Supporting Integer, Float, Boolean, and String variables required proper datatype identification and storage. Ensuring correct arithmetic and comparison operations across different datatypes was one of the key implementation challenges. </a:t>
            </a:r>
          </a:p>
          <a:p>
            <a:pPr algn="l">
              <a:lnSpc>
                <a:spcPts val="4383"/>
              </a:lnSpc>
              <a:spcBef>
                <a:spcPct val="0"/>
              </a:spcBef>
            </a:pPr>
            <a:r>
              <a:rPr lang="en-US" sz="3652" u="sng">
                <a:solidFill>
                  <a:srgbClr val="F4B43C"/>
                </a:solidFill>
                <a:latin typeface="Aptos"/>
                <a:ea typeface="Aptos"/>
                <a:cs typeface="Aptos"/>
                <a:sym typeface="Aptos"/>
              </a:rPr>
              <a:t>9.3 Error Handling </a:t>
            </a:r>
          </a:p>
          <a:p>
            <a:pPr algn="l">
              <a:lnSpc>
                <a:spcPts val="3068"/>
              </a:lnSpc>
              <a:spcBef>
                <a:spcPct val="0"/>
              </a:spcBef>
            </a:pPr>
            <a:r>
              <a:rPr lang="en-US" sz="2557">
                <a:solidFill>
                  <a:srgbClr val="FFFFFF"/>
                </a:solidFill>
                <a:latin typeface="Aptos"/>
                <a:ea typeface="Aptos"/>
                <a:cs typeface="Aptos"/>
                <a:sym typeface="Aptos"/>
              </a:rPr>
              <a:t>The interpreter needed to detect invalid commands, missing variables, unsupported operations, and division by zero without terminating unexpectedly. Exception handling was implemented to improve reliability. </a:t>
            </a:r>
          </a:p>
          <a:p>
            <a:pPr algn="l">
              <a:lnSpc>
                <a:spcPts val="4383"/>
              </a:lnSpc>
              <a:spcBef>
                <a:spcPct val="0"/>
              </a:spcBef>
            </a:pPr>
            <a:r>
              <a:rPr lang="en-US" sz="3652" u="sng">
                <a:solidFill>
                  <a:srgbClr val="F4B43C"/>
                </a:solidFill>
                <a:latin typeface="Aptos"/>
                <a:ea typeface="Aptos"/>
                <a:cs typeface="Aptos"/>
                <a:sym typeface="Aptos"/>
              </a:rPr>
              <a:t>9.4 Version Control</a:t>
            </a:r>
          </a:p>
          <a:p>
            <a:pPr algn="l">
              <a:lnSpc>
                <a:spcPts val="3068"/>
              </a:lnSpc>
              <a:spcBef>
                <a:spcPct val="0"/>
              </a:spcBef>
            </a:pPr>
            <a:r>
              <a:rPr lang="en-US" sz="2557">
                <a:solidFill>
                  <a:srgbClr val="F4B43C"/>
                </a:solidFill>
                <a:latin typeface="Aptos"/>
                <a:ea typeface="Aptos"/>
                <a:cs typeface="Aptos"/>
                <a:sym typeface="Aptos"/>
              </a:rPr>
              <a:t> </a:t>
            </a:r>
            <a:r>
              <a:rPr lang="en-US" sz="2557">
                <a:solidFill>
                  <a:srgbClr val="FFFFFF"/>
                </a:solidFill>
                <a:latin typeface="Aptos"/>
                <a:ea typeface="Aptos"/>
                <a:cs typeface="Aptos"/>
                <a:sym typeface="Aptos"/>
              </a:rPr>
              <a:t>Learning Git and GitHub workflows, including branching, merging, pull requests, releases, and commit management, required additional effort but significantly improved project organization.</a:t>
            </a:r>
            <a:r>
              <a:rPr lang="en-US" sz="2557">
                <a:solidFill>
                  <a:srgbClr val="F4B43C"/>
                </a:solidFill>
                <a:latin typeface="Aptos"/>
                <a:ea typeface="Aptos"/>
                <a:cs typeface="Aptos"/>
                <a:sym typeface="Aptos"/>
              </a:rPr>
              <a:t> </a:t>
            </a:r>
          </a:p>
          <a:p>
            <a:pPr algn="l">
              <a:lnSpc>
                <a:spcPts val="4383"/>
              </a:lnSpc>
              <a:spcBef>
                <a:spcPct val="0"/>
              </a:spcBef>
            </a:pPr>
            <a:r>
              <a:rPr lang="en-US" sz="3652" u="sng">
                <a:solidFill>
                  <a:srgbClr val="F4B43C"/>
                </a:solidFill>
                <a:latin typeface="Aptos"/>
                <a:ea typeface="Aptos"/>
                <a:cs typeface="Aptos"/>
                <a:sym typeface="Aptos"/>
              </a:rPr>
              <a:t>9.5 Documentation </a:t>
            </a:r>
          </a:p>
          <a:p>
            <a:pPr algn="l">
              <a:lnSpc>
                <a:spcPts val="3068"/>
              </a:lnSpc>
              <a:spcBef>
                <a:spcPct val="0"/>
              </a:spcBef>
            </a:pPr>
            <a:r>
              <a:rPr lang="en-US" sz="2557">
                <a:solidFill>
                  <a:srgbClr val="FFFFFF"/>
                </a:solidFill>
                <a:latin typeface="Aptos"/>
                <a:ea typeface="Aptos"/>
                <a:cs typeface="Aptos"/>
                <a:sym typeface="Aptos"/>
              </a:rPr>
              <a:t>Preparing professional documentation, including the README, contribution guidelines, changelog, architecture diagrams, and the final report, required careful planning to ensure consistency and completeness. Despite these challenges, the project was completed successfully and provided practical experience in software development, version control, and documentation. </a:t>
            </a:r>
          </a:p>
        </p:txBody>
      </p:sp>
      <p:sp>
        <p:nvSpPr>
          <p:cNvPr id="7" name="Freeform 7"/>
          <p:cNvSpPr/>
          <p:nvPr/>
        </p:nvSpPr>
        <p:spPr>
          <a:xfrm>
            <a:off x="13166139" y="243850"/>
            <a:ext cx="1868691" cy="1569700"/>
          </a:xfrm>
          <a:custGeom>
            <a:avLst/>
            <a:gdLst/>
            <a:ahLst/>
            <a:cxnLst/>
            <a:rect l="l" t="t" r="r" b="b"/>
            <a:pathLst>
              <a:path w="1868691" h="1569700">
                <a:moveTo>
                  <a:pt x="0" y="0"/>
                </a:moveTo>
                <a:lnTo>
                  <a:pt x="1868691" y="0"/>
                </a:lnTo>
                <a:lnTo>
                  <a:pt x="1868691" y="1569700"/>
                </a:lnTo>
                <a:lnTo>
                  <a:pt x="0" y="15697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4270079" y="243850"/>
            <a:ext cx="1207104" cy="1257400"/>
          </a:xfrm>
          <a:custGeom>
            <a:avLst/>
            <a:gdLst/>
            <a:ahLst/>
            <a:cxnLst/>
            <a:rect l="l" t="t" r="r" b="b"/>
            <a:pathLst>
              <a:path w="1207104" h="1257400">
                <a:moveTo>
                  <a:pt x="0" y="0"/>
                </a:moveTo>
                <a:lnTo>
                  <a:pt x="1207104" y="0"/>
                </a:lnTo>
                <a:lnTo>
                  <a:pt x="1207104" y="1257400"/>
                </a:lnTo>
                <a:lnTo>
                  <a:pt x="0" y="12574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1028700" y="647700"/>
            <a:ext cx="16289188" cy="762000"/>
          </a:xfrm>
          <a:prstGeom prst="rect">
            <a:avLst/>
          </a:prstGeom>
        </p:spPr>
        <p:txBody>
          <a:bodyPr lIns="0" tIns="0" rIns="0" bIns="0" rtlCol="0" anchor="t">
            <a:spAutoFit/>
          </a:bodyPr>
          <a:lstStyle/>
          <a:p>
            <a:pPr algn="ctr">
              <a:lnSpc>
                <a:spcPts val="6064"/>
              </a:lnSpc>
            </a:pPr>
            <a:r>
              <a:rPr lang="en-US" sz="5053" b="1" u="sng">
                <a:solidFill>
                  <a:srgbClr val="F4B43C"/>
                </a:solidFill>
                <a:latin typeface="Aptos Bold"/>
                <a:ea typeface="Aptos Bold"/>
                <a:cs typeface="Aptos Bold"/>
                <a:sym typeface="Aptos Bold"/>
              </a:rPr>
              <a:t>CHALLENGES FACED </a:t>
            </a:r>
          </a:p>
        </p:txBody>
      </p:sp>
      <p:sp>
        <p:nvSpPr>
          <p:cNvPr id="11" name="Rectangle 10">
            <a:extLst>
              <a:ext uri="{FF2B5EF4-FFF2-40B4-BE49-F238E27FC236}">
                <a16:creationId xmlns:a16="http://schemas.microsoft.com/office/drawing/2014/main" id="{491BBAE1-440D-A4C9-D251-41C96108B415}"/>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11</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1028700" y="813306"/>
            <a:ext cx="9086536" cy="9086536"/>
          </a:xfrm>
          <a:custGeom>
            <a:avLst/>
            <a:gdLst/>
            <a:ahLst/>
            <a:cxnLst/>
            <a:rect l="l" t="t" r="r" b="b"/>
            <a:pathLst>
              <a:path w="9086536" h="9086536">
                <a:moveTo>
                  <a:pt x="0" y="0"/>
                </a:moveTo>
                <a:lnTo>
                  <a:pt x="9086536" y="0"/>
                </a:lnTo>
                <a:lnTo>
                  <a:pt x="9086536" y="9086537"/>
                </a:lnTo>
                <a:lnTo>
                  <a:pt x="0" y="908653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8449305" y="600232"/>
            <a:ext cx="9086536" cy="9086536"/>
          </a:xfrm>
          <a:custGeom>
            <a:avLst/>
            <a:gdLst/>
            <a:ahLst/>
            <a:cxnLst/>
            <a:rect l="l" t="t" r="r" b="b"/>
            <a:pathLst>
              <a:path w="9086536" h="9086536">
                <a:moveTo>
                  <a:pt x="0" y="0"/>
                </a:moveTo>
                <a:lnTo>
                  <a:pt x="9086536" y="0"/>
                </a:lnTo>
                <a:lnTo>
                  <a:pt x="9086536" y="9086536"/>
                </a:lnTo>
                <a:lnTo>
                  <a:pt x="0" y="90865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017766" y="239003"/>
            <a:ext cx="1108405" cy="1148606"/>
          </a:xfrm>
          <a:custGeom>
            <a:avLst/>
            <a:gdLst/>
            <a:ahLst/>
            <a:cxnLst/>
            <a:rect l="l" t="t" r="r" b="b"/>
            <a:pathLst>
              <a:path w="1108405" h="1148606">
                <a:moveTo>
                  <a:pt x="0" y="0"/>
                </a:moveTo>
                <a:lnTo>
                  <a:pt x="1108405" y="0"/>
                </a:lnTo>
                <a:lnTo>
                  <a:pt x="1108405" y="1148606"/>
                </a:lnTo>
                <a:lnTo>
                  <a:pt x="0" y="114860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2022001" y="239003"/>
            <a:ext cx="970572" cy="1148606"/>
          </a:xfrm>
          <a:custGeom>
            <a:avLst/>
            <a:gdLst/>
            <a:ahLst/>
            <a:cxnLst/>
            <a:rect l="l" t="t" r="r" b="b"/>
            <a:pathLst>
              <a:path w="970572" h="1148606">
                <a:moveTo>
                  <a:pt x="0" y="0"/>
                </a:moveTo>
                <a:lnTo>
                  <a:pt x="970572" y="0"/>
                </a:lnTo>
                <a:lnTo>
                  <a:pt x="970572" y="1148606"/>
                </a:lnTo>
                <a:lnTo>
                  <a:pt x="0" y="114860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028700" y="1675287"/>
            <a:ext cx="16259894" cy="7418449"/>
          </a:xfrm>
          <a:prstGeom prst="rect">
            <a:avLst/>
          </a:prstGeom>
        </p:spPr>
        <p:txBody>
          <a:bodyPr lIns="0" tIns="0" rIns="0" bIns="0" rtlCol="0" anchor="t">
            <a:spAutoFit/>
          </a:bodyPr>
          <a:lstStyle/>
          <a:p>
            <a:pPr algn="l">
              <a:lnSpc>
                <a:spcPts val="3652"/>
              </a:lnSpc>
            </a:pPr>
            <a:r>
              <a:rPr lang="en-US" sz="3043">
                <a:solidFill>
                  <a:srgbClr val="FFFFFF"/>
                </a:solidFill>
                <a:latin typeface="Aptos"/>
                <a:ea typeface="Aptos"/>
                <a:cs typeface="Aptos"/>
                <a:sym typeface="Aptos"/>
              </a:rPr>
              <a:t>Although MiniLang currently supports basic command execution and variable manipulation, it has significant potential for future enhancement. Possible future improvements include: </a:t>
            </a:r>
          </a:p>
          <a:p>
            <a:pPr algn="l">
              <a:lnSpc>
                <a:spcPts val="3652"/>
              </a:lnSpc>
            </a:pPr>
            <a:r>
              <a:rPr lang="en-US" sz="3043">
                <a:solidFill>
                  <a:srgbClr val="FFFFFF"/>
                </a:solidFill>
                <a:latin typeface="Aptos"/>
                <a:ea typeface="Aptos"/>
                <a:cs typeface="Aptos"/>
                <a:sym typeface="Aptos"/>
              </a:rPr>
              <a:t>• Support for user-defined functions. </a:t>
            </a:r>
          </a:p>
          <a:p>
            <a:pPr algn="l">
              <a:lnSpc>
                <a:spcPts val="3652"/>
              </a:lnSpc>
            </a:pPr>
            <a:r>
              <a:rPr lang="en-US" sz="3043">
                <a:solidFill>
                  <a:srgbClr val="FFFFFF"/>
                </a:solidFill>
                <a:latin typeface="Aptos"/>
                <a:ea typeface="Aptos"/>
                <a:cs typeface="Aptos"/>
                <a:sym typeface="Aptos"/>
              </a:rPr>
              <a:t>• Conditional statements such as if, else, and switch. </a:t>
            </a:r>
          </a:p>
          <a:p>
            <a:pPr algn="l">
              <a:lnSpc>
                <a:spcPts val="3652"/>
              </a:lnSpc>
            </a:pPr>
            <a:r>
              <a:rPr lang="en-US" sz="3043">
                <a:solidFill>
                  <a:srgbClr val="FFFFFF"/>
                </a:solidFill>
                <a:latin typeface="Aptos"/>
                <a:ea typeface="Aptos"/>
                <a:cs typeface="Aptos"/>
                <a:sym typeface="Aptos"/>
              </a:rPr>
              <a:t>• Loop constructs including for and while. </a:t>
            </a:r>
          </a:p>
          <a:p>
            <a:pPr algn="l">
              <a:lnSpc>
                <a:spcPts val="3652"/>
              </a:lnSpc>
            </a:pPr>
            <a:r>
              <a:rPr lang="en-US" sz="3043">
                <a:solidFill>
                  <a:srgbClr val="FFFFFF"/>
                </a:solidFill>
                <a:latin typeface="Aptos"/>
                <a:ea typeface="Aptos"/>
                <a:cs typeface="Aptos"/>
                <a:sym typeface="Aptos"/>
              </a:rPr>
              <a:t>• Expression evaluation with operator precedence. </a:t>
            </a:r>
          </a:p>
          <a:p>
            <a:pPr algn="l">
              <a:lnSpc>
                <a:spcPts val="3652"/>
              </a:lnSpc>
            </a:pPr>
            <a:r>
              <a:rPr lang="en-US" sz="3043">
                <a:solidFill>
                  <a:srgbClr val="FFFFFF"/>
                </a:solidFill>
                <a:latin typeface="Aptos"/>
                <a:ea typeface="Aptos"/>
                <a:cs typeface="Aptos"/>
                <a:sym typeface="Aptos"/>
              </a:rPr>
              <a:t>• Arrays and collection data types. </a:t>
            </a:r>
          </a:p>
          <a:p>
            <a:pPr algn="l">
              <a:lnSpc>
                <a:spcPts val="3652"/>
              </a:lnSpc>
            </a:pPr>
            <a:r>
              <a:rPr lang="en-US" sz="3043">
                <a:solidFill>
                  <a:srgbClr val="FFFFFF"/>
                </a:solidFill>
                <a:latin typeface="Aptos"/>
                <a:ea typeface="Aptos"/>
                <a:cs typeface="Aptos"/>
                <a:sym typeface="Aptos"/>
              </a:rPr>
              <a:t>• File handling commands for reading and writing data. </a:t>
            </a:r>
          </a:p>
          <a:p>
            <a:pPr algn="l">
              <a:lnSpc>
                <a:spcPts val="3652"/>
              </a:lnSpc>
            </a:pPr>
            <a:r>
              <a:rPr lang="en-US" sz="3043">
                <a:solidFill>
                  <a:srgbClr val="FFFFFF"/>
                </a:solidFill>
                <a:latin typeface="Aptos"/>
                <a:ea typeface="Aptos"/>
                <a:cs typeface="Aptos"/>
                <a:sym typeface="Aptos"/>
              </a:rPr>
              <a:t>• Saving and loading interpreter sessions. </a:t>
            </a:r>
          </a:p>
          <a:p>
            <a:pPr algn="l">
              <a:lnSpc>
                <a:spcPts val="3652"/>
              </a:lnSpc>
            </a:pPr>
            <a:r>
              <a:rPr lang="en-US" sz="3043">
                <a:solidFill>
                  <a:srgbClr val="FFFFFF"/>
                </a:solidFill>
                <a:latin typeface="Aptos"/>
                <a:ea typeface="Aptos"/>
                <a:cs typeface="Aptos"/>
                <a:sym typeface="Aptos"/>
              </a:rPr>
              <a:t>• Command history and auto-completion. </a:t>
            </a:r>
          </a:p>
          <a:p>
            <a:pPr algn="l">
              <a:lnSpc>
                <a:spcPts val="3652"/>
              </a:lnSpc>
            </a:pPr>
            <a:r>
              <a:rPr lang="en-US" sz="3043">
                <a:solidFill>
                  <a:srgbClr val="FFFFFF"/>
                </a:solidFill>
                <a:latin typeface="Aptos"/>
                <a:ea typeface="Aptos"/>
                <a:cs typeface="Aptos"/>
                <a:sym typeface="Aptos"/>
              </a:rPr>
              <a:t>• Interactive shell with syntax highlighting. </a:t>
            </a:r>
          </a:p>
          <a:p>
            <a:pPr algn="l">
              <a:lnSpc>
                <a:spcPts val="3652"/>
              </a:lnSpc>
            </a:pPr>
            <a:r>
              <a:rPr lang="en-US" sz="3043">
                <a:solidFill>
                  <a:srgbClr val="FFFFFF"/>
                </a:solidFill>
                <a:latin typeface="Aptos"/>
                <a:ea typeface="Aptos"/>
                <a:cs typeface="Aptos"/>
                <a:sym typeface="Aptos"/>
              </a:rPr>
              <a:t>• Graphical User Interface (GUI). </a:t>
            </a:r>
          </a:p>
          <a:p>
            <a:pPr algn="l">
              <a:lnSpc>
                <a:spcPts val="3652"/>
              </a:lnSpc>
            </a:pPr>
            <a:r>
              <a:rPr lang="en-US" sz="3043">
                <a:solidFill>
                  <a:srgbClr val="FFFFFF"/>
                </a:solidFill>
                <a:latin typeface="Aptos"/>
                <a:ea typeface="Aptos"/>
                <a:cs typeface="Aptos"/>
                <a:sym typeface="Aptos"/>
              </a:rPr>
              <a:t>• Cross-platform packaging and installer support. </a:t>
            </a:r>
          </a:p>
          <a:p>
            <a:pPr algn="l">
              <a:lnSpc>
                <a:spcPts val="3652"/>
              </a:lnSpc>
            </a:pPr>
            <a:r>
              <a:rPr lang="en-US" sz="3043">
                <a:solidFill>
                  <a:srgbClr val="FFFFFF"/>
                </a:solidFill>
                <a:latin typeface="Aptos"/>
                <a:ea typeface="Aptos"/>
                <a:cs typeface="Aptos"/>
                <a:sym typeface="Aptos"/>
              </a:rPr>
              <a:t>• Modular parser capable of supporting more advanced language syntax. </a:t>
            </a:r>
          </a:p>
          <a:p>
            <a:pPr algn="l">
              <a:lnSpc>
                <a:spcPts val="3652"/>
              </a:lnSpc>
              <a:spcBef>
                <a:spcPct val="0"/>
              </a:spcBef>
            </a:pPr>
            <a:r>
              <a:rPr lang="en-US" sz="3043">
                <a:solidFill>
                  <a:srgbClr val="FFFFFF"/>
                </a:solidFill>
                <a:latin typeface="Aptos"/>
                <a:ea typeface="Aptos"/>
                <a:cs typeface="Aptos"/>
                <a:sym typeface="Aptos"/>
              </a:rPr>
              <a:t>Future development can transform MiniLang from a simple educational interpreter into a more complete scripting language suitable for learning compiler and interpreter design concepts.</a:t>
            </a:r>
          </a:p>
        </p:txBody>
      </p:sp>
      <p:sp>
        <p:nvSpPr>
          <p:cNvPr id="8" name="Freeform 8"/>
          <p:cNvSpPr/>
          <p:nvPr/>
        </p:nvSpPr>
        <p:spPr>
          <a:xfrm>
            <a:off x="15418796" y="6338166"/>
            <a:ext cx="1598467" cy="1682597"/>
          </a:xfrm>
          <a:custGeom>
            <a:avLst/>
            <a:gdLst/>
            <a:ahLst/>
            <a:cxnLst/>
            <a:rect l="l" t="t" r="r" b="b"/>
            <a:pathLst>
              <a:path w="1598467" h="1682597">
                <a:moveTo>
                  <a:pt x="0" y="0"/>
                </a:moveTo>
                <a:lnTo>
                  <a:pt x="1598468" y="0"/>
                </a:lnTo>
                <a:lnTo>
                  <a:pt x="1598468" y="1682597"/>
                </a:lnTo>
                <a:lnTo>
                  <a:pt x="0" y="16825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15172032" y="2695954"/>
            <a:ext cx="1845232" cy="1845232"/>
          </a:xfrm>
          <a:custGeom>
            <a:avLst/>
            <a:gdLst/>
            <a:ahLst/>
            <a:cxnLst/>
            <a:rect l="l" t="t" r="r" b="b"/>
            <a:pathLst>
              <a:path w="1845232" h="1845232">
                <a:moveTo>
                  <a:pt x="0" y="0"/>
                </a:moveTo>
                <a:lnTo>
                  <a:pt x="1845232" y="0"/>
                </a:lnTo>
                <a:lnTo>
                  <a:pt x="1845232" y="1845231"/>
                </a:lnTo>
                <a:lnTo>
                  <a:pt x="0" y="184523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12188169" y="4107211"/>
            <a:ext cx="2000038" cy="2072578"/>
          </a:xfrm>
          <a:custGeom>
            <a:avLst/>
            <a:gdLst/>
            <a:ahLst/>
            <a:cxnLst/>
            <a:rect l="l" t="t" r="r" b="b"/>
            <a:pathLst>
              <a:path w="2000038" h="2072578">
                <a:moveTo>
                  <a:pt x="0" y="0"/>
                </a:moveTo>
                <a:lnTo>
                  <a:pt x="2000038" y="0"/>
                </a:lnTo>
                <a:lnTo>
                  <a:pt x="2000038" y="2072578"/>
                </a:lnTo>
                <a:lnTo>
                  <a:pt x="0" y="207257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1028700" y="432306"/>
            <a:ext cx="16289188" cy="762000"/>
          </a:xfrm>
          <a:prstGeom prst="rect">
            <a:avLst/>
          </a:prstGeom>
        </p:spPr>
        <p:txBody>
          <a:bodyPr lIns="0" tIns="0" rIns="0" bIns="0" rtlCol="0" anchor="t">
            <a:spAutoFit/>
          </a:bodyPr>
          <a:lstStyle/>
          <a:p>
            <a:pPr algn="ctr">
              <a:lnSpc>
                <a:spcPts val="6064"/>
              </a:lnSpc>
            </a:pPr>
            <a:r>
              <a:rPr lang="en-US" sz="5053" b="1" u="sng">
                <a:solidFill>
                  <a:srgbClr val="F4B43C"/>
                </a:solidFill>
                <a:latin typeface="Aptos Bold"/>
                <a:ea typeface="Aptos Bold"/>
                <a:cs typeface="Aptos Bold"/>
                <a:sym typeface="Aptos Bold"/>
              </a:rPr>
              <a:t>FUTURE SCOPE</a:t>
            </a:r>
          </a:p>
        </p:txBody>
      </p:sp>
      <p:sp>
        <p:nvSpPr>
          <p:cNvPr id="13" name="Rectangle 12">
            <a:extLst>
              <a:ext uri="{FF2B5EF4-FFF2-40B4-BE49-F238E27FC236}">
                <a16:creationId xmlns:a16="http://schemas.microsoft.com/office/drawing/2014/main" id="{AE91ECF5-6488-B54B-6D3B-960E0F997448}"/>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12</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Freeform 3"/>
          <p:cNvSpPr/>
          <p:nvPr/>
        </p:nvSpPr>
        <p:spPr>
          <a:xfrm>
            <a:off x="1579410" y="1028701"/>
            <a:ext cx="14621242" cy="9258300"/>
          </a:xfrm>
          <a:custGeom>
            <a:avLst/>
            <a:gdLst/>
            <a:ahLst/>
            <a:cxnLst/>
            <a:rect l="l" t="t" r="r" b="b"/>
            <a:pathLst>
              <a:path w="14621242" h="9525627">
                <a:moveTo>
                  <a:pt x="0" y="0"/>
                </a:moveTo>
                <a:lnTo>
                  <a:pt x="14621241" y="0"/>
                </a:lnTo>
                <a:lnTo>
                  <a:pt x="14621241" y="9525627"/>
                </a:lnTo>
                <a:lnTo>
                  <a:pt x="0" y="9525627"/>
                </a:lnTo>
                <a:lnTo>
                  <a:pt x="0" y="0"/>
                </a:lnTo>
                <a:close/>
              </a:path>
            </a:pathLst>
          </a:custGeom>
          <a:blipFill>
            <a:blip r:embed="rId3"/>
            <a:stretch>
              <a:fillRect t="-1828" r="-2246"/>
            </a:stretch>
          </a:blipFill>
        </p:spPr>
      </p:sp>
      <p:sp>
        <p:nvSpPr>
          <p:cNvPr id="4" name="TextBox 4"/>
          <p:cNvSpPr txBox="1"/>
          <p:nvPr/>
        </p:nvSpPr>
        <p:spPr>
          <a:xfrm>
            <a:off x="1028700" y="266700"/>
            <a:ext cx="16289188" cy="762000"/>
          </a:xfrm>
          <a:prstGeom prst="rect">
            <a:avLst/>
          </a:prstGeom>
        </p:spPr>
        <p:txBody>
          <a:bodyPr lIns="0" tIns="0" rIns="0" bIns="0" rtlCol="0" anchor="t">
            <a:spAutoFit/>
          </a:bodyPr>
          <a:lstStyle/>
          <a:p>
            <a:pPr algn="ctr">
              <a:lnSpc>
                <a:spcPts val="6064"/>
              </a:lnSpc>
            </a:pPr>
            <a:r>
              <a:rPr lang="en-US" sz="5053" b="1" u="sng">
                <a:solidFill>
                  <a:srgbClr val="F4B43C"/>
                </a:solidFill>
                <a:latin typeface="Aptos Bold"/>
                <a:ea typeface="Aptos Bold"/>
                <a:cs typeface="Aptos Bold"/>
                <a:sym typeface="Aptos Bold"/>
              </a:rPr>
              <a:t>TEAM MEMBERS &amp; THEIR CONTRIBUTION</a:t>
            </a:r>
          </a:p>
        </p:txBody>
      </p:sp>
      <p:sp>
        <p:nvSpPr>
          <p:cNvPr id="6" name="Rectangle 5">
            <a:extLst>
              <a:ext uri="{FF2B5EF4-FFF2-40B4-BE49-F238E27FC236}">
                <a16:creationId xmlns:a16="http://schemas.microsoft.com/office/drawing/2014/main" id="{A7595FAE-A605-910E-1C96-E4D4401D6A7E}"/>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10</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6" r="-86"/>
            </a:stretch>
          </a:blipFill>
        </p:spPr>
      </p:sp>
      <p:sp>
        <p:nvSpPr>
          <p:cNvPr id="3" name="TextBox 3"/>
          <p:cNvSpPr txBox="1"/>
          <p:nvPr/>
        </p:nvSpPr>
        <p:spPr>
          <a:xfrm>
            <a:off x="16700773" y="9782165"/>
            <a:ext cx="503453" cy="192624"/>
          </a:xfrm>
          <a:prstGeom prst="rect">
            <a:avLst/>
          </a:prstGeom>
        </p:spPr>
        <p:txBody>
          <a:bodyPr lIns="0" tIns="0" rIns="0" bIns="0" rtlCol="0" anchor="t">
            <a:spAutoFit/>
          </a:bodyPr>
          <a:lstStyle/>
          <a:p>
            <a:pPr algn="r">
              <a:lnSpc>
                <a:spcPts val="1621"/>
              </a:lnSpc>
            </a:pPr>
            <a:r>
              <a:rPr lang="en-US" sz="1351">
                <a:solidFill>
                  <a:srgbClr val="A0AAB4"/>
                </a:solidFill>
                <a:latin typeface="Aptos"/>
                <a:ea typeface="Aptos"/>
                <a:cs typeface="Aptos"/>
                <a:sym typeface="Aptos"/>
              </a:rPr>
              <a:t>7</a:t>
            </a:r>
          </a:p>
        </p:txBody>
      </p:sp>
      <p:sp>
        <p:nvSpPr>
          <p:cNvPr id="4" name="TextBox 4"/>
          <p:cNvSpPr txBox="1"/>
          <p:nvPr/>
        </p:nvSpPr>
        <p:spPr>
          <a:xfrm>
            <a:off x="7043841" y="323339"/>
            <a:ext cx="4200319" cy="771525"/>
          </a:xfrm>
          <a:prstGeom prst="rect">
            <a:avLst/>
          </a:prstGeom>
        </p:spPr>
        <p:txBody>
          <a:bodyPr lIns="0" tIns="0" rIns="0" bIns="0" rtlCol="0" anchor="t">
            <a:spAutoFit/>
          </a:bodyPr>
          <a:lstStyle/>
          <a:p>
            <a:pPr algn="l">
              <a:lnSpc>
                <a:spcPts val="6000"/>
              </a:lnSpc>
            </a:pPr>
            <a:r>
              <a:rPr lang="en-US" sz="5000" b="1" u="sng">
                <a:solidFill>
                  <a:srgbClr val="F4B43C"/>
                </a:solidFill>
                <a:latin typeface="Aptos Bold"/>
                <a:ea typeface="Aptos Bold"/>
                <a:cs typeface="Aptos Bold"/>
                <a:sym typeface="Aptos Bold"/>
              </a:rPr>
              <a:t>REFERENCES </a:t>
            </a:r>
          </a:p>
        </p:txBody>
      </p:sp>
      <p:sp>
        <p:nvSpPr>
          <p:cNvPr id="5" name="TextBox 5"/>
          <p:cNvSpPr txBox="1"/>
          <p:nvPr/>
        </p:nvSpPr>
        <p:spPr>
          <a:xfrm>
            <a:off x="1028700" y="1047239"/>
            <a:ext cx="15720931" cy="8836001"/>
          </a:xfrm>
          <a:prstGeom prst="rect">
            <a:avLst/>
          </a:prstGeom>
        </p:spPr>
        <p:txBody>
          <a:bodyPr lIns="0" tIns="0" rIns="0" bIns="0" rtlCol="0" anchor="t">
            <a:spAutoFit/>
          </a:bodyPr>
          <a:lstStyle/>
          <a:p>
            <a:pPr algn="l">
              <a:lnSpc>
                <a:spcPts val="3499"/>
              </a:lnSpc>
            </a:pPr>
            <a:r>
              <a:rPr lang="en-US" sz="2499" b="1" u="sng">
                <a:solidFill>
                  <a:srgbClr val="FFFFFF"/>
                </a:solidFill>
                <a:latin typeface="Canva Sans Bold"/>
                <a:ea typeface="Canva Sans Bold"/>
                <a:cs typeface="Canva Sans Bold"/>
                <a:sym typeface="Canva Sans Bold"/>
              </a:rPr>
              <a:t>Books</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Bjarne Stroustrup, The C++ Programming Language (4th Edition), Addison-Wesley Professional, 2013.</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Stanley B. Lippman, Josée Lajoie, and Barbara E. Moo, C++ Primer (5th Edition), Addison-Wesley Professional, 2012.</a:t>
            </a:r>
          </a:p>
          <a:p>
            <a:pPr algn="l">
              <a:lnSpc>
                <a:spcPts val="3499"/>
              </a:lnSpc>
            </a:pPr>
            <a:r>
              <a:rPr lang="en-US" sz="2499" b="1" u="sng">
                <a:solidFill>
                  <a:srgbClr val="FFFFFF"/>
                </a:solidFill>
                <a:latin typeface="Canva Sans Bold"/>
                <a:ea typeface="Canva Sans Bold"/>
                <a:cs typeface="Canva Sans Bold"/>
                <a:sym typeface="Canva Sans Bold"/>
              </a:rPr>
              <a:t>Git, GitHub and Interpreter Documentation</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Git Documentation. Git Reference Manual. Available at: </a:t>
            </a:r>
            <a:r>
              <a:rPr lang="en-US" sz="2499" b="1" u="sng">
                <a:solidFill>
                  <a:srgbClr val="FFFFFF"/>
                </a:solidFill>
                <a:latin typeface="Canva Sans Bold"/>
                <a:ea typeface="Canva Sans Bold"/>
                <a:cs typeface="Canva Sans Bold"/>
                <a:sym typeface="Canva Sans Bold"/>
                <a:hlinkClick r:id="rId3" tooltip="https://git-scm.com/docs"/>
              </a:rPr>
              <a:t>https://git-scm.com/docs</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GitHub Documentation. GitHub Docs. Available at: </a:t>
            </a:r>
            <a:r>
              <a:rPr lang="en-US" sz="2499" b="1" u="sng">
                <a:solidFill>
                  <a:srgbClr val="FFFFFF"/>
                </a:solidFill>
                <a:latin typeface="Canva Sans Bold"/>
                <a:ea typeface="Canva Sans Bold"/>
                <a:cs typeface="Canva Sans Bold"/>
                <a:sym typeface="Canva Sans Bold"/>
                <a:hlinkClick r:id="rId4" tooltip="https://docs.github.com"/>
              </a:rPr>
              <a:t>https://docs.github.com</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Ruslan Spivak, Let’s Build A Simple Interpreter. Available at: https://ruslanspivak.com/lsbasi-introduction/</a:t>
            </a:r>
          </a:p>
          <a:p>
            <a:pPr algn="l">
              <a:lnSpc>
                <a:spcPts val="3499"/>
              </a:lnSpc>
            </a:pPr>
            <a:r>
              <a:rPr lang="en-US" sz="2499" b="1" u="sng">
                <a:solidFill>
                  <a:srgbClr val="FFFFFF"/>
                </a:solidFill>
                <a:latin typeface="Canva Sans Bold"/>
                <a:ea typeface="Canva Sans Bold"/>
                <a:cs typeface="Canva Sans Bold"/>
                <a:sym typeface="Canva Sans Bold"/>
              </a:rPr>
              <a:t>Development Tools Documentation</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Microsoft. Visual Studio Code Documentation. Available at: </a:t>
            </a:r>
            <a:r>
              <a:rPr lang="en-US" sz="2499" b="1" u="sng">
                <a:solidFill>
                  <a:srgbClr val="FFFFFF"/>
                </a:solidFill>
                <a:latin typeface="Canva Sans Bold"/>
                <a:ea typeface="Canva Sans Bold"/>
                <a:cs typeface="Canva Sans Bold"/>
                <a:sym typeface="Canva Sans Bold"/>
                <a:hlinkClick r:id="rId5" tooltip="https://code.visualstudio.com/docs"/>
              </a:rPr>
              <a:t>https://code.visualstudio.com/docs</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GNU Project. GNU C++ Compiler (G++) Documentation. Available at: </a:t>
            </a:r>
            <a:r>
              <a:rPr lang="en-US" sz="2499" b="1" u="sng">
                <a:solidFill>
                  <a:srgbClr val="FFFFFF"/>
                </a:solidFill>
                <a:latin typeface="Canva Sans Bold"/>
                <a:ea typeface="Canva Sans Bold"/>
                <a:cs typeface="Canva Sans Bold"/>
                <a:sym typeface="Canva Sans Bold"/>
                <a:hlinkClick r:id="rId6" tooltip="https://gcc.gnu.org/onlinedocs/"/>
              </a:rPr>
              <a:t>https://gcc.gnu.org/onlinedocs/</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cppreference.com. C++ Standard Library Reference. Available at: </a:t>
            </a:r>
            <a:r>
              <a:rPr lang="en-US" sz="2499" b="1" u="sng">
                <a:solidFill>
                  <a:srgbClr val="FFFFFF"/>
                </a:solidFill>
                <a:latin typeface="Canva Sans Bold"/>
                <a:ea typeface="Canva Sans Bold"/>
                <a:cs typeface="Canva Sans Bold"/>
                <a:sym typeface="Canva Sans Bold"/>
                <a:hlinkClick r:id="rId7" tooltip="https://en.cppreference.com"/>
              </a:rPr>
              <a:t>https://en.cppreference.com/</a:t>
            </a:r>
          </a:p>
          <a:p>
            <a:pPr algn="l">
              <a:lnSpc>
                <a:spcPts val="3499"/>
              </a:lnSpc>
            </a:pPr>
            <a:r>
              <a:rPr lang="en-US" sz="2499" b="1" u="sng">
                <a:solidFill>
                  <a:srgbClr val="FFFFFF"/>
                </a:solidFill>
                <a:latin typeface="Canva Sans Bold"/>
                <a:ea typeface="Canva Sans Bold"/>
                <a:cs typeface="Canva Sans Bold"/>
                <a:sym typeface="Canva Sans Bold"/>
              </a:rPr>
              <a:t>Open-Source Repositories Studied</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The Algorithms – C++ Repository. Available at: </a:t>
            </a:r>
            <a:r>
              <a:rPr lang="en-US" sz="2499" b="1" u="sng">
                <a:solidFill>
                  <a:srgbClr val="FFFFFF"/>
                </a:solidFill>
                <a:latin typeface="Canva Sans Bold"/>
                <a:ea typeface="Canva Sans Bold"/>
                <a:cs typeface="Canva Sans Bold"/>
                <a:sym typeface="Canva Sans Bold"/>
                <a:hlinkClick r:id="rId8" tooltip="https://github.com/TheAlgorithms/C-Plus-Plus"/>
              </a:rPr>
              <a:t>https://github.com/TheAlgorithms/C-Plus-Plus</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Git Project Source Repository. Available at: </a:t>
            </a:r>
            <a:r>
              <a:rPr lang="en-US" sz="2499" b="1" u="sng">
                <a:solidFill>
                  <a:srgbClr val="FFFFFF"/>
                </a:solidFill>
                <a:latin typeface="Canva Sans Bold"/>
                <a:ea typeface="Canva Sans Bold"/>
                <a:cs typeface="Canva Sans Bold"/>
                <a:sym typeface="Canva Sans Bold"/>
                <a:hlinkClick r:id="rId9" tooltip="https://github.com/git/git"/>
              </a:rPr>
              <a:t>https://github.com/git/git</a:t>
            </a:r>
          </a:p>
          <a:p>
            <a:pPr marL="539749" lvl="1" indent="-269875" algn="l">
              <a:lnSpc>
                <a:spcPts val="3499"/>
              </a:lnSpc>
              <a:buAutoNum type="arabicPeriod"/>
            </a:pPr>
            <a:r>
              <a:rPr lang="en-US" sz="2499" b="1">
                <a:solidFill>
                  <a:srgbClr val="FFFFFF"/>
                </a:solidFill>
                <a:latin typeface="Canva Sans Bold"/>
                <a:ea typeface="Canva Sans Bold"/>
                <a:cs typeface="Canva Sans Bold"/>
                <a:sym typeface="Canva Sans Bold"/>
              </a:rPr>
              <a:t>LLVM Project Repository. Available at: </a:t>
            </a:r>
            <a:r>
              <a:rPr lang="en-US" sz="2499" b="1" u="sng">
                <a:solidFill>
                  <a:srgbClr val="FFFFFF"/>
                </a:solidFill>
                <a:latin typeface="Canva Sans Bold"/>
                <a:ea typeface="Canva Sans Bold"/>
                <a:cs typeface="Canva Sans Bold"/>
                <a:sym typeface="Canva Sans Bold"/>
                <a:hlinkClick r:id="rId10" tooltip="https://github.com/llvm/llvm-project"/>
              </a:rPr>
              <a:t>https://github.com/llvm/llvm-project</a:t>
            </a:r>
          </a:p>
          <a:p>
            <a:pPr algn="l">
              <a:lnSpc>
                <a:spcPts val="4202"/>
              </a:lnSpc>
            </a:pPr>
            <a:endParaRPr lang="en-US" sz="2499" b="1" u="sng">
              <a:solidFill>
                <a:srgbClr val="FFFFFF"/>
              </a:solidFill>
              <a:latin typeface="Canva Sans Bold"/>
              <a:ea typeface="Canva Sans Bold"/>
              <a:cs typeface="Canva Sans Bold"/>
              <a:sym typeface="Canva Sans Bold"/>
              <a:hlinkClick r:id="rId10" tooltip="https://github.com/llvm/llvm-project"/>
            </a:endParaRPr>
          </a:p>
        </p:txBody>
      </p:sp>
      <p:sp>
        <p:nvSpPr>
          <p:cNvPr id="7" name="Rectangle 6">
            <a:extLst>
              <a:ext uri="{FF2B5EF4-FFF2-40B4-BE49-F238E27FC236}">
                <a16:creationId xmlns:a16="http://schemas.microsoft.com/office/drawing/2014/main" id="{729A0ECB-88FC-0195-FE37-529B06D6397E}"/>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13</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86" r="-86"/>
            </a:stretch>
          </a:blipFill>
        </p:spPr>
      </p:sp>
      <p:sp>
        <p:nvSpPr>
          <p:cNvPr id="3" name="Freeform 3"/>
          <p:cNvSpPr/>
          <p:nvPr/>
        </p:nvSpPr>
        <p:spPr>
          <a:xfrm>
            <a:off x="15306580" y="450537"/>
            <a:ext cx="1645920" cy="2057400"/>
          </a:xfrm>
          <a:custGeom>
            <a:avLst/>
            <a:gdLst/>
            <a:ahLst/>
            <a:cxnLst/>
            <a:rect l="l" t="t" r="r" b="b"/>
            <a:pathLst>
              <a:path w="1645920" h="2057400">
                <a:moveTo>
                  <a:pt x="0" y="0"/>
                </a:moveTo>
                <a:lnTo>
                  <a:pt x="1645920" y="0"/>
                </a:lnTo>
                <a:lnTo>
                  <a:pt x="164592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12796358" y="2768581"/>
            <a:ext cx="2219145" cy="1586689"/>
          </a:xfrm>
          <a:custGeom>
            <a:avLst/>
            <a:gdLst/>
            <a:ahLst/>
            <a:cxnLst/>
            <a:rect l="l" t="t" r="r" b="b"/>
            <a:pathLst>
              <a:path w="2219145" h="1586689">
                <a:moveTo>
                  <a:pt x="0" y="0"/>
                </a:moveTo>
                <a:lnTo>
                  <a:pt x="2219145" y="0"/>
                </a:lnTo>
                <a:lnTo>
                  <a:pt x="2219145" y="1586688"/>
                </a:lnTo>
                <a:lnTo>
                  <a:pt x="0" y="158668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 name="Freeform 5"/>
          <p:cNvSpPr/>
          <p:nvPr/>
        </p:nvSpPr>
        <p:spPr>
          <a:xfrm>
            <a:off x="5000270" y="87988"/>
            <a:ext cx="4377447" cy="4114800"/>
          </a:xfrm>
          <a:custGeom>
            <a:avLst/>
            <a:gdLst/>
            <a:ahLst/>
            <a:cxnLst/>
            <a:rect l="l" t="t" r="r" b="b"/>
            <a:pathLst>
              <a:path w="4377447" h="4114800">
                <a:moveTo>
                  <a:pt x="0" y="0"/>
                </a:moveTo>
                <a:lnTo>
                  <a:pt x="4377447" y="0"/>
                </a:lnTo>
                <a:lnTo>
                  <a:pt x="4377447"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7058811" y="2369654"/>
            <a:ext cx="4523591" cy="1038746"/>
          </a:xfrm>
          <a:prstGeom prst="rect">
            <a:avLst/>
          </a:prstGeom>
        </p:spPr>
        <p:txBody>
          <a:bodyPr wrap="square" lIns="0" tIns="0" rIns="0" bIns="0" rtlCol="0" anchor="t">
            <a:spAutoFit/>
          </a:bodyPr>
          <a:lstStyle/>
          <a:p>
            <a:pPr algn="ctr">
              <a:lnSpc>
                <a:spcPts val="8399"/>
              </a:lnSpc>
            </a:pPr>
            <a:r>
              <a:rPr lang="en-US" sz="6999" b="1" dirty="0">
                <a:solidFill>
                  <a:srgbClr val="F4B43C"/>
                </a:solidFill>
                <a:latin typeface="Consolas Bold"/>
                <a:ea typeface="Consolas Bold"/>
                <a:cs typeface="Consolas Bold"/>
                <a:sym typeface="Consolas Bold"/>
              </a:rPr>
              <a:t>MINILANG</a:t>
            </a:r>
          </a:p>
        </p:txBody>
      </p:sp>
      <p:sp>
        <p:nvSpPr>
          <p:cNvPr id="7" name="TextBox 7"/>
          <p:cNvSpPr txBox="1"/>
          <p:nvPr/>
        </p:nvSpPr>
        <p:spPr>
          <a:xfrm>
            <a:off x="1439025" y="3497938"/>
            <a:ext cx="15877384" cy="590550"/>
          </a:xfrm>
          <a:prstGeom prst="rect">
            <a:avLst/>
          </a:prstGeom>
        </p:spPr>
        <p:txBody>
          <a:bodyPr lIns="0" tIns="0" rIns="0" bIns="0" rtlCol="0" anchor="t">
            <a:spAutoFit/>
          </a:bodyPr>
          <a:lstStyle/>
          <a:p>
            <a:pPr algn="ctr">
              <a:lnSpc>
                <a:spcPts val="4799"/>
              </a:lnSpc>
            </a:pPr>
            <a:r>
              <a:rPr lang="en-US" sz="3999" b="1" dirty="0">
                <a:solidFill>
                  <a:srgbClr val="EBEDF0"/>
                </a:solidFill>
                <a:latin typeface="Aptos Bold"/>
                <a:ea typeface="Aptos Bold"/>
                <a:cs typeface="Aptos Bold"/>
                <a:sym typeface="Aptos Bold"/>
              </a:rPr>
              <a:t>Build. Version. Collaborate.</a:t>
            </a:r>
          </a:p>
        </p:txBody>
      </p:sp>
      <p:sp>
        <p:nvSpPr>
          <p:cNvPr id="8" name="Freeform 8"/>
          <p:cNvSpPr/>
          <p:nvPr/>
        </p:nvSpPr>
        <p:spPr>
          <a:xfrm>
            <a:off x="9320608" y="-18493"/>
            <a:ext cx="4377447" cy="4114800"/>
          </a:xfrm>
          <a:custGeom>
            <a:avLst/>
            <a:gdLst/>
            <a:ahLst/>
            <a:cxnLst/>
            <a:rect l="l" t="t" r="r" b="b"/>
            <a:pathLst>
              <a:path w="4377447" h="4114800">
                <a:moveTo>
                  <a:pt x="0" y="0"/>
                </a:moveTo>
                <a:lnTo>
                  <a:pt x="4377447" y="0"/>
                </a:lnTo>
                <a:lnTo>
                  <a:pt x="4377447"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2982207" y="-372342"/>
            <a:ext cx="4377447" cy="4114800"/>
          </a:xfrm>
          <a:custGeom>
            <a:avLst/>
            <a:gdLst/>
            <a:ahLst/>
            <a:cxnLst/>
            <a:rect l="l" t="t" r="r" b="b"/>
            <a:pathLst>
              <a:path w="4377447" h="4114800">
                <a:moveTo>
                  <a:pt x="0" y="0"/>
                </a:moveTo>
                <a:lnTo>
                  <a:pt x="4377447" y="0"/>
                </a:lnTo>
                <a:lnTo>
                  <a:pt x="4377447"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a:off x="12826780" y="87988"/>
            <a:ext cx="4377447" cy="4114800"/>
          </a:xfrm>
          <a:custGeom>
            <a:avLst/>
            <a:gdLst/>
            <a:ahLst/>
            <a:cxnLst/>
            <a:rect l="l" t="t" r="r" b="b"/>
            <a:pathLst>
              <a:path w="4377447" h="4114800">
                <a:moveTo>
                  <a:pt x="0" y="0"/>
                </a:moveTo>
                <a:lnTo>
                  <a:pt x="4377446" y="0"/>
                </a:lnTo>
                <a:lnTo>
                  <a:pt x="4377446"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a:off x="3829366" y="2507937"/>
            <a:ext cx="1635602" cy="1749307"/>
          </a:xfrm>
          <a:custGeom>
            <a:avLst/>
            <a:gdLst/>
            <a:ahLst/>
            <a:cxnLst/>
            <a:rect l="l" t="t" r="r" b="b"/>
            <a:pathLst>
              <a:path w="1635602" h="1749307">
                <a:moveTo>
                  <a:pt x="0" y="0"/>
                </a:moveTo>
                <a:lnTo>
                  <a:pt x="1635603" y="0"/>
                </a:lnTo>
                <a:lnTo>
                  <a:pt x="1635603" y="1749308"/>
                </a:lnTo>
                <a:lnTo>
                  <a:pt x="0" y="174930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7188994" y="6679288"/>
            <a:ext cx="3409287" cy="3607712"/>
          </a:xfrm>
          <a:custGeom>
            <a:avLst/>
            <a:gdLst/>
            <a:ahLst/>
            <a:cxnLst/>
            <a:rect l="l" t="t" r="r" b="b"/>
            <a:pathLst>
              <a:path w="3409287" h="3607712">
                <a:moveTo>
                  <a:pt x="0" y="0"/>
                </a:moveTo>
                <a:lnTo>
                  <a:pt x="3409287" y="0"/>
                </a:lnTo>
                <a:lnTo>
                  <a:pt x="3409287" y="3607712"/>
                </a:lnTo>
                <a:lnTo>
                  <a:pt x="0" y="360771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3" name="Freeform 13"/>
          <p:cNvSpPr/>
          <p:nvPr/>
        </p:nvSpPr>
        <p:spPr>
          <a:xfrm>
            <a:off x="2464425" y="412125"/>
            <a:ext cx="1626782" cy="1626782"/>
          </a:xfrm>
          <a:custGeom>
            <a:avLst/>
            <a:gdLst/>
            <a:ahLst/>
            <a:cxnLst/>
            <a:rect l="l" t="t" r="r" b="b"/>
            <a:pathLst>
              <a:path w="1626782" h="1626782">
                <a:moveTo>
                  <a:pt x="0" y="0"/>
                </a:moveTo>
                <a:lnTo>
                  <a:pt x="1626781" y="0"/>
                </a:lnTo>
                <a:lnTo>
                  <a:pt x="1626781" y="1626782"/>
                </a:lnTo>
                <a:lnTo>
                  <a:pt x="0" y="162678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4" name="Freeform 14"/>
          <p:cNvSpPr/>
          <p:nvPr/>
        </p:nvSpPr>
        <p:spPr>
          <a:xfrm rot="-5400000">
            <a:off x="973280" y="2824001"/>
            <a:ext cx="1847332" cy="1736492"/>
          </a:xfrm>
          <a:custGeom>
            <a:avLst/>
            <a:gdLst/>
            <a:ahLst/>
            <a:cxnLst/>
            <a:rect l="l" t="t" r="r" b="b"/>
            <a:pathLst>
              <a:path w="1847332" h="1736492">
                <a:moveTo>
                  <a:pt x="0" y="0"/>
                </a:moveTo>
                <a:lnTo>
                  <a:pt x="1847332" y="0"/>
                </a:lnTo>
                <a:lnTo>
                  <a:pt x="1847332" y="1736491"/>
                </a:lnTo>
                <a:lnTo>
                  <a:pt x="0" y="173649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4091206" y="4202788"/>
            <a:ext cx="10458803" cy="1666875"/>
          </a:xfrm>
          <a:prstGeom prst="rect">
            <a:avLst/>
          </a:prstGeom>
        </p:spPr>
        <p:txBody>
          <a:bodyPr lIns="0" tIns="0" rIns="0" bIns="0" rtlCol="0" anchor="t">
            <a:spAutoFit/>
          </a:bodyPr>
          <a:lstStyle/>
          <a:p>
            <a:pPr algn="ctr">
              <a:lnSpc>
                <a:spcPts val="13199"/>
              </a:lnSpc>
            </a:pPr>
            <a:r>
              <a:rPr lang="en-US" sz="10999" b="1">
                <a:solidFill>
                  <a:srgbClr val="F4B43C"/>
                </a:solidFill>
                <a:latin typeface="Aptos Bold"/>
                <a:ea typeface="Aptos Bold"/>
                <a:cs typeface="Aptos Bold"/>
                <a:sym typeface="Aptos Bold"/>
              </a:rPr>
              <a:t>THANK YOU !!!</a:t>
            </a:r>
          </a:p>
        </p:txBody>
      </p:sp>
      <p:sp>
        <p:nvSpPr>
          <p:cNvPr id="16" name="TextBox 16"/>
          <p:cNvSpPr txBox="1"/>
          <p:nvPr/>
        </p:nvSpPr>
        <p:spPr>
          <a:xfrm>
            <a:off x="16700773" y="9782165"/>
            <a:ext cx="503453" cy="192624"/>
          </a:xfrm>
          <a:prstGeom prst="rect">
            <a:avLst/>
          </a:prstGeom>
        </p:spPr>
        <p:txBody>
          <a:bodyPr lIns="0" tIns="0" rIns="0" bIns="0" rtlCol="0" anchor="t">
            <a:spAutoFit/>
          </a:bodyPr>
          <a:lstStyle/>
          <a:p>
            <a:pPr algn="r">
              <a:lnSpc>
                <a:spcPts val="1621"/>
              </a:lnSpc>
            </a:pPr>
            <a:r>
              <a:rPr lang="en-US" sz="1351">
                <a:solidFill>
                  <a:srgbClr val="A0AAB4"/>
                </a:solidFill>
                <a:latin typeface="Aptos"/>
                <a:ea typeface="Aptos"/>
                <a:cs typeface="Aptos"/>
                <a:sym typeface="Aptos"/>
              </a:rPr>
              <a:t>15</a:t>
            </a:r>
          </a:p>
        </p:txBody>
      </p:sp>
      <p:sp>
        <p:nvSpPr>
          <p:cNvPr id="17" name="TextBox 17"/>
          <p:cNvSpPr txBox="1"/>
          <p:nvPr/>
        </p:nvSpPr>
        <p:spPr>
          <a:xfrm>
            <a:off x="1381916" y="5983963"/>
            <a:ext cx="15877384" cy="590550"/>
          </a:xfrm>
          <a:prstGeom prst="rect">
            <a:avLst/>
          </a:prstGeom>
        </p:spPr>
        <p:txBody>
          <a:bodyPr lIns="0" tIns="0" rIns="0" bIns="0" rtlCol="0" anchor="t">
            <a:spAutoFit/>
          </a:bodyPr>
          <a:lstStyle/>
          <a:p>
            <a:pPr algn="ctr">
              <a:lnSpc>
                <a:spcPts val="4799"/>
              </a:lnSpc>
            </a:pPr>
            <a:r>
              <a:rPr lang="en-US" sz="3999" b="1">
                <a:solidFill>
                  <a:srgbClr val="EBEDF0"/>
                </a:solidFill>
                <a:latin typeface="Aptos Bold"/>
                <a:ea typeface="Aptos Bold"/>
                <a:cs typeface="Aptos Bold"/>
                <a:sym typeface="Aptos Bold"/>
              </a:rPr>
              <a:t>HOPE YOU LIKED THE PRESENTATION.</a:t>
            </a:r>
          </a:p>
        </p:txBody>
      </p:sp>
      <p:sp>
        <p:nvSpPr>
          <p:cNvPr id="18" name="Freeform 18"/>
          <p:cNvSpPr/>
          <p:nvPr/>
        </p:nvSpPr>
        <p:spPr>
          <a:xfrm rot="-5400000">
            <a:off x="377238" y="1770013"/>
            <a:ext cx="1847332" cy="1736492"/>
          </a:xfrm>
          <a:custGeom>
            <a:avLst/>
            <a:gdLst/>
            <a:ahLst/>
            <a:cxnLst/>
            <a:rect l="l" t="t" r="r" b="b"/>
            <a:pathLst>
              <a:path w="1847332" h="1736492">
                <a:moveTo>
                  <a:pt x="0" y="0"/>
                </a:moveTo>
                <a:lnTo>
                  <a:pt x="1847332" y="0"/>
                </a:lnTo>
                <a:lnTo>
                  <a:pt x="1847332" y="1736492"/>
                </a:lnTo>
                <a:lnTo>
                  <a:pt x="0" y="17364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0" name="Rectangle 19">
            <a:extLst>
              <a:ext uri="{FF2B5EF4-FFF2-40B4-BE49-F238E27FC236}">
                <a16:creationId xmlns:a16="http://schemas.microsoft.com/office/drawing/2014/main" id="{DA1C0564-9630-E545-BBF1-9E9BCBED170F}"/>
              </a:ext>
            </a:extLst>
          </p:cNvPr>
          <p:cNvSpPr/>
          <p:nvPr/>
        </p:nvSpPr>
        <p:spPr>
          <a:xfrm>
            <a:off x="15019791" y="9765622"/>
            <a:ext cx="3268209"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SLIDE NUMBER 14</a:t>
            </a:r>
            <a:endParaRPr lang="en-US" b="0" cap="none" spc="0" dirty="0">
              <a:ln w="0"/>
              <a:solidFill>
                <a:schemeClr val="bg1"/>
              </a:solidFill>
              <a:effectLst>
                <a:outerShdw blurRad="38100" dist="19050" dir="2700000" algn="tl" rotWithShape="0">
                  <a:schemeClr val="dk1">
                    <a:alpha val="40000"/>
                  </a:scheme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1513</Words>
  <Application>Microsoft Office PowerPoint</Application>
  <PresentationFormat>Custom</PresentationFormat>
  <Paragraphs>177</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Aptos</vt:lpstr>
      <vt:lpstr>Calibri</vt:lpstr>
      <vt:lpstr>Consolas</vt:lpstr>
      <vt:lpstr>Consolas Bold</vt:lpstr>
      <vt:lpstr>Aptos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Mini-Lang_Presentation.pptx</dc:title>
  <cp:lastModifiedBy>RAGHAV SHARMA</cp:lastModifiedBy>
  <cp:revision>4</cp:revision>
  <dcterms:created xsi:type="dcterms:W3CDTF">2006-08-16T00:00:00Z</dcterms:created>
  <dcterms:modified xsi:type="dcterms:W3CDTF">2026-08-27T06:27:02Z</dcterms:modified>
  <dc:identifier>DAHTIm-3kYk</dc:identifier>
</cp:coreProperties>
</file>